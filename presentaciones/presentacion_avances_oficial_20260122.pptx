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7559675" cx="10691800"/>
  <p:notesSz cx="6858000" cy="9144000"/>
  <p:embeddedFontLst>
    <p:embeddedFont>
      <p:font typeface="Play"/>
      <p:regular r:id="rId32"/>
      <p:bold r:id="rId33"/>
    </p:embeddedFont>
    <p:embeddedFont>
      <p:font typeface="Manrope"/>
      <p:regular r:id="rId34"/>
      <p:bold r:id="rId35"/>
    </p:embeddedFont>
    <p:embeddedFont>
      <p:font typeface="Manrope ExtraBold"/>
      <p:bold r:id="rId36"/>
    </p:embeddedFont>
    <p:embeddedFont>
      <p:font typeface="Manrope Medium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263">
          <p15:clr>
            <a:srgbClr val="A4A3A4"/>
          </p15:clr>
        </p15:guide>
        <p15:guide id="2" pos="457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4ja/wi/mmt5cgJbG9edr5PhC2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772119-7EBD-4052-BD74-AC2035EBC1EB}">
  <a:tblStyle styleId="{56772119-7EBD-4052-BD74-AC2035EBC1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7B46221-2E1A-4B86-A51C-B9FB7B806A3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263" orient="horz"/>
        <p:guide pos="45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Play-bold.fntdata"/><Relationship Id="rId10" Type="http://schemas.openxmlformats.org/officeDocument/2006/relationships/slide" Target="slides/slide3.xml"/><Relationship Id="rId32" Type="http://schemas.openxmlformats.org/officeDocument/2006/relationships/font" Target="fonts/Play-regular.fntdata"/><Relationship Id="rId13" Type="http://schemas.openxmlformats.org/officeDocument/2006/relationships/slide" Target="slides/slide6.xml"/><Relationship Id="rId35" Type="http://schemas.openxmlformats.org/officeDocument/2006/relationships/font" Target="fonts/Manrope-bold.fntdata"/><Relationship Id="rId12" Type="http://schemas.openxmlformats.org/officeDocument/2006/relationships/slide" Target="slides/slide5.xml"/><Relationship Id="rId34" Type="http://schemas.openxmlformats.org/officeDocument/2006/relationships/font" Target="fonts/Manrope-regular.fntdata"/><Relationship Id="rId15" Type="http://schemas.openxmlformats.org/officeDocument/2006/relationships/slide" Target="slides/slide8.xml"/><Relationship Id="rId37" Type="http://schemas.openxmlformats.org/officeDocument/2006/relationships/font" Target="fonts/ManropeMedium-regular.fntdata"/><Relationship Id="rId14" Type="http://schemas.openxmlformats.org/officeDocument/2006/relationships/slide" Target="slides/slide7.xml"/><Relationship Id="rId36" Type="http://schemas.openxmlformats.org/officeDocument/2006/relationships/font" Target="fonts/ManropeExtraBold-bold.fntdata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font" Target="fonts/Manrope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8b2d2aec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b8b2d2aecf_0_162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67519524a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67519524a_1_1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9941743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b999417430_0_5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67519524a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b67519524a_1_2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8b2d2aec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b8b2d2aecf_0_227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67519524a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67519524a_1_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7519524a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b67519524a_1_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67519524a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67519524a_1_4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9398b843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b9398b8431_0_2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8b2d2aec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b8b2d2aecf_0_231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67519524a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67519524a_1_6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67519524a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67519524a_1_7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67519524a_1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b67519524a_1_95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8b2d2aecf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b8b2d2aecf_0_236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67519524a_1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b67519524a_1_5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67519524a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b67519524a_1_5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67519524a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67519524a_1_3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67519524a_1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b67519524a_1_129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8b2d2aec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b8b2d2aecf_0_245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67519524a_1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b67519524a_1_12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67519524a_1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b67519524a_1_149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999417430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999417430_1_6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801886" y="1237197"/>
            <a:ext cx="9088041" cy="2631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Play"/>
              <a:buNone/>
              <a:defRPr sz="66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36477" y="3970580"/>
            <a:ext cx="8018860" cy="18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lvl="1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2pPr>
            <a:lvl3pPr lvl="2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lvl="3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4pPr>
            <a:lvl5pPr lvl="4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9494" y="1884671"/>
            <a:ext cx="9221689" cy="3144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Play"/>
              <a:buNone/>
              <a:defRPr sz="66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9494" y="5059035"/>
            <a:ext cx="9221689" cy="1653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2205"/>
              <a:buNone/>
              <a:defRPr sz="220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735062" y="2012414"/>
            <a:ext cx="4544021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412730" y="2012414"/>
            <a:ext cx="4544021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736455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736456" y="1853171"/>
            <a:ext cx="4523137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736456" y="2761381"/>
            <a:ext cx="4523137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5412731" y="1853171"/>
            <a:ext cx="4545413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5412731" y="2761381"/>
            <a:ext cx="4545413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736455" y="503978"/>
            <a:ext cx="3448388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Play"/>
              <a:buNone/>
              <a:defRPr sz="352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545413" y="1088455"/>
            <a:ext cx="5412730" cy="5372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564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527"/>
              <a:buChar char="•"/>
              <a:defRPr sz="3527"/>
            </a:lvl1pPr>
            <a:lvl2pPr indent="-424561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  <a:defRPr sz="3086"/>
            </a:lvl2pPr>
            <a:lvl3pPr indent="-39662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Char char="•"/>
              <a:defRPr sz="2646"/>
            </a:lvl3pPr>
            <a:lvl4pPr indent="-368617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4pPr>
            <a:lvl5pPr indent="-368617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5pPr>
            <a:lvl6pPr indent="-368617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6pPr>
            <a:lvl7pPr indent="-368617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7pPr>
            <a:lvl8pPr indent="-368617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8pPr>
            <a:lvl9pPr indent="-368617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736455" y="2267902"/>
            <a:ext cx="3448388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736455" y="503978"/>
            <a:ext cx="3448388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Play"/>
              <a:buNone/>
              <a:defRPr sz="352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4545413" y="1088455"/>
            <a:ext cx="5412730" cy="53722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736455" y="2267902"/>
            <a:ext cx="3448388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947634" y="-200158"/>
            <a:ext cx="4796544" cy="9221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5600802" y="2453010"/>
            <a:ext cx="6406475" cy="2305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923135" y="214411"/>
            <a:ext cx="6406475" cy="6782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 1">
  <p:cSld name="1_Texto + imagen 2 1">
    <p:bg>
      <p:bgPr>
        <a:solidFill>
          <a:srgbClr val="2B3E4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8b2d2aecf_0_83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87B867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86" name="Google Shape;86;g3b8b2d2aecf_0_83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F2DC"/>
              </a:buClr>
              <a:buSzPts val="2300"/>
              <a:buFont typeface="Arial"/>
              <a:buChar char="•"/>
              <a:defRPr b="0" i="0" sz="1800">
                <a:solidFill>
                  <a:srgbClr val="FCF2D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87" name="Google Shape;87;g3b8b2d2aecf_0_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b8b2d2aecf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b8b2d2aecf_0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1">
  <p:cSld name="TITLE_1">
    <p:bg>
      <p:bgPr>
        <a:solidFill>
          <a:srgbClr val="87B86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8b2d2aecf_0_171"/>
          <p:cNvSpPr txBox="1"/>
          <p:nvPr>
            <p:ph type="ctrTitle"/>
          </p:nvPr>
        </p:nvSpPr>
        <p:spPr>
          <a:xfrm>
            <a:off x="577473" y="1238561"/>
            <a:ext cx="61575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DFB9"/>
              </a:buClr>
              <a:buSzPts val="4600"/>
              <a:buNone/>
              <a:defRPr b="1" i="0" sz="4600">
                <a:solidFill>
                  <a:srgbClr val="FCF2D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96" name="Google Shape;96;g3b8b2d2aecf_0_171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g3b8b2d2aecf_0_171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3b8b2d2aecf_0_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706" y="2366449"/>
            <a:ext cx="3430695" cy="1924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8b2d2aecf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b8b2d2aecf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b8b2d2aecf_0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1">
  <p:cSld name="TITLE_AND_BODY_1">
    <p:bg>
      <p:bgPr>
        <a:solidFill>
          <a:srgbClr val="FCF2D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b2d2aecf_0_179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g3b8b2d2aecf_0_179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b8b2d2aecf_0_1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g3b8b2d2aecf_0_179"/>
          <p:cNvGrpSpPr/>
          <p:nvPr/>
        </p:nvGrpSpPr>
        <p:grpSpPr>
          <a:xfrm>
            <a:off x="0" y="779490"/>
            <a:ext cx="3939026" cy="977936"/>
            <a:chOff x="25" y="814200"/>
            <a:chExt cx="2808575" cy="554700"/>
          </a:xfrm>
        </p:grpSpPr>
        <p:sp>
          <p:nvSpPr>
            <p:cNvPr id="107" name="Google Shape;107;g3b8b2d2aecf_0_179"/>
            <p:cNvSpPr/>
            <p:nvPr/>
          </p:nvSpPr>
          <p:spPr>
            <a:xfrm>
              <a:off x="25" y="814200"/>
              <a:ext cx="2514300" cy="554700"/>
            </a:xfrm>
            <a:prstGeom prst="rect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b8b2d2aecf_0_179"/>
            <p:cNvSpPr/>
            <p:nvPr/>
          </p:nvSpPr>
          <p:spPr>
            <a:xfrm>
              <a:off x="2253900" y="814200"/>
              <a:ext cx="554700" cy="554700"/>
            </a:xfrm>
            <a:prstGeom prst="flowChartDelay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g3b8b2d2aecf_0_179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E4C"/>
              </a:buClr>
              <a:buSzPts val="2300"/>
              <a:buFont typeface="Arial"/>
              <a:buChar char="•"/>
              <a:defRPr b="0" i="0" sz="1800">
                <a:solidFill>
                  <a:srgbClr val="2B3E4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0" name="Google Shape;110;g3b8b2d2aecf_0_179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F4DFB9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pic>
        <p:nvPicPr>
          <p:cNvPr id="111" name="Google Shape;111;g3b8b2d2aecf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8b2d2aecf_0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1 1">
  <p:cSld name="TITLE_AND_BODY_1_2">
    <p:bg>
      <p:bgPr>
        <a:solidFill>
          <a:srgbClr val="FCF2D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b2d2aecf_0_190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2B3E4C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115" name="Google Shape;115;g3b8b2d2aecf_0_190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" name="Google Shape;116;g3b8b2d2aecf_0_190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b8b2d2aecf_0_1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b8b2d2aecf_0_190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E4C"/>
              </a:buClr>
              <a:buSzPts val="2300"/>
              <a:buFont typeface="Arial"/>
              <a:buChar char="•"/>
              <a:defRPr b="0" i="0" sz="1800">
                <a:solidFill>
                  <a:srgbClr val="2B3E4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119" name="Google Shape;119;g3b8b2d2aecf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b8b2d2aecf_0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">
  <p:cSld name="TITLE_AND_BODY_1_1">
    <p:bg>
      <p:bgPr>
        <a:solidFill>
          <a:srgbClr val="87B86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g3b8b2d2aecf_0_198"/>
          <p:cNvGrpSpPr/>
          <p:nvPr/>
        </p:nvGrpSpPr>
        <p:grpSpPr>
          <a:xfrm>
            <a:off x="0" y="779490"/>
            <a:ext cx="3939026" cy="977936"/>
            <a:chOff x="25" y="814200"/>
            <a:chExt cx="2808575" cy="554700"/>
          </a:xfrm>
        </p:grpSpPr>
        <p:sp>
          <p:nvSpPr>
            <p:cNvPr id="123" name="Google Shape;123;g3b8b2d2aecf_0_198"/>
            <p:cNvSpPr/>
            <p:nvPr/>
          </p:nvSpPr>
          <p:spPr>
            <a:xfrm>
              <a:off x="25" y="814200"/>
              <a:ext cx="2514300" cy="554700"/>
            </a:xfrm>
            <a:prstGeom prst="rect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b8b2d2aecf_0_198"/>
            <p:cNvSpPr/>
            <p:nvPr/>
          </p:nvSpPr>
          <p:spPr>
            <a:xfrm>
              <a:off x="2253900" y="814200"/>
              <a:ext cx="554700" cy="554700"/>
            </a:xfrm>
            <a:prstGeom prst="flowChartDelay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g3b8b2d2aecf_0_198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g3b8b2d2aecf_0_198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b8b2d2aecf_0_1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b8b2d2aecf_0_198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F2DC"/>
              </a:buClr>
              <a:buSzPts val="2300"/>
              <a:buFont typeface="Arial"/>
              <a:buChar char="•"/>
              <a:defRPr b="0" i="0" sz="1800">
                <a:solidFill>
                  <a:srgbClr val="FCF2D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9" name="Google Shape;129;g3b8b2d2aecf_0_198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F4DFB9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pic>
        <p:nvPicPr>
          <p:cNvPr id="130" name="Google Shape;130;g3b8b2d2aecf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b8b2d2aecf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 1">
  <p:cSld name="TITLE_AND_BODY_1_1_1">
    <p:bg>
      <p:bgPr>
        <a:solidFill>
          <a:srgbClr val="87B86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b2d2aecf_0_209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g3b8b2d2aecf_0_209"/>
          <p:cNvSpPr/>
          <p:nvPr/>
        </p:nvSpPr>
        <p:spPr>
          <a:xfrm>
            <a:off x="0" y="6392985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8b2d2aecf_0_209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FCF2DC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136" name="Google Shape;136;g3b8b2d2aecf_0_209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E4C"/>
              </a:buClr>
              <a:buSzPts val="2300"/>
              <a:buFont typeface="Arial"/>
              <a:buChar char="•"/>
              <a:defRPr b="0" i="0" sz="1800">
                <a:solidFill>
                  <a:srgbClr val="2B3E4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137" name="Google Shape;137;g3b8b2d2aecf_0_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8b2d2aecf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b8b2d2aecf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 1">
  <p:cSld name="1_Texto + imagen 2 1">
    <p:bg>
      <p:bgPr>
        <a:solidFill>
          <a:srgbClr val="2B3E4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b2d2aecf_0_217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87B867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142" name="Google Shape;142;g3b8b2d2aecf_0_217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F2DC"/>
              </a:buClr>
              <a:buSzPts val="2300"/>
              <a:buFont typeface="Arial"/>
              <a:buChar char="•"/>
              <a:defRPr b="0" i="0" sz="1800">
                <a:solidFill>
                  <a:srgbClr val="FCF2D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143" name="Google Shape;143;g3b8b2d2aecf_0_2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b8b2d2aecf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b8b2d2aecf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Provincia del Neuquén ">
  <p:cSld name="Cierre Provincia del Neuquén ">
    <p:bg>
      <p:bgPr>
        <a:solidFill>
          <a:srgbClr val="2B3E4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8b2d2aecf_0_2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0009" y="3205934"/>
            <a:ext cx="2991782" cy="921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Gobierno del Neuquén">
  <p:cSld name="Cierre Gobierno del Neuquén">
    <p:bg>
      <p:bgPr>
        <a:solidFill>
          <a:srgbClr val="2B3E4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b8b2d2aecf_0_2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48124" y="2711771"/>
            <a:ext cx="2995553" cy="133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Play"/>
              <a:buNone/>
              <a:defRPr b="0" i="0" sz="48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4561" lvl="0" marL="457200" marR="0" rtl="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b="0" i="0" sz="308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6621" lvl="1" marL="914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617" lvl="2" marL="1371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b="0" i="0" sz="22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4583" lvl="3" marL="1828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4583" lvl="4" marL="22860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4583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4583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4584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4584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8b2d2aecf_0_167"/>
          <p:cNvSpPr txBox="1"/>
          <p:nvPr>
            <p:ph type="title"/>
          </p:nvPr>
        </p:nvSpPr>
        <p:spPr>
          <a:xfrm>
            <a:off x="364461" y="654077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2" name="Google Shape;92;g3b8b2d2aecf_0_167"/>
          <p:cNvSpPr txBox="1"/>
          <p:nvPr>
            <p:ph idx="1" type="body"/>
          </p:nvPr>
        </p:nvSpPr>
        <p:spPr>
          <a:xfrm>
            <a:off x="364461" y="1693854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anrope"/>
              <a:buChar char="●"/>
              <a:defRPr b="0" i="0" sz="23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○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■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●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429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○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■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●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○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■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3" name="Google Shape;93;g3b8b2d2aecf_0_167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Relationship Id="rId4" Type="http://schemas.openxmlformats.org/officeDocument/2006/relationships/hyperlink" Target="https://www.google.com/search?q=Apertura+Ocular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B" TargetMode="External"/><Relationship Id="rId5" Type="http://schemas.openxmlformats.org/officeDocument/2006/relationships/hyperlink" Target="https://www.google.com/search?q=Respuesta+Verbal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H" TargetMode="External"/><Relationship Id="rId6" Type="http://schemas.openxmlformats.org/officeDocument/2006/relationships/hyperlink" Target="https://www.google.com/search?q=Respuesta+Motora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O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Relationship Id="rId4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903704" y="968375"/>
            <a:ext cx="6035576" cy="2191385"/>
          </a:xfrm>
          <a:prstGeom prst="rect">
            <a:avLst/>
          </a:prstGeom>
          <a:noFill/>
          <a:ln>
            <a:noFill/>
          </a:ln>
        </p:spPr>
        <p:txBody>
          <a:bodyPr anchorCtr="0" anchor="t" bIns="52150" lIns="104300" spcFirstLastPara="1" rIns="104300" wrap="square" tIns="521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b="1" lang="pt-BR" sz="9600">
                <a:solidFill>
                  <a:srgbClr val="F4DFB9"/>
                </a:solidFill>
                <a:latin typeface="Calibri"/>
                <a:ea typeface="Calibri"/>
                <a:cs typeface="Calibri"/>
                <a:sym typeface="Calibri"/>
              </a:rPr>
              <a:t>S.P.G</a:t>
            </a:r>
            <a:endParaRPr b="1" sz="96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903704" y="3572034"/>
            <a:ext cx="6035576" cy="1711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solidFill>
                  <a:srgbClr val="F4DFB9"/>
                </a:solidFill>
                <a:latin typeface="Calibri"/>
                <a:ea typeface="Calibri"/>
                <a:cs typeface="Calibri"/>
                <a:sym typeface="Calibri"/>
              </a:rPr>
              <a:t>Sistema Provincial de Guardia</a:t>
            </a:r>
            <a:endParaRPr sz="24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b2d2aecf_0_162"/>
          <p:cNvSpPr txBox="1"/>
          <p:nvPr>
            <p:ph type="ctrTitle"/>
          </p:nvPr>
        </p:nvSpPr>
        <p:spPr>
          <a:xfrm>
            <a:off x="577476" y="12385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12200"/>
              <a:t>CONTEXTO</a:t>
            </a:r>
            <a:endParaRPr sz="1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67519524a_1_1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b67519524a_1_13"/>
          <p:cNvSpPr txBox="1"/>
          <p:nvPr/>
        </p:nvSpPr>
        <p:spPr>
          <a:xfrm>
            <a:off x="239050" y="169950"/>
            <a:ext cx="1020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¿POR DÓNDE VAMOS?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168" name="Google Shape;168;g3b67519524a_1_13"/>
          <p:cNvGraphicFramePr/>
          <p:nvPr/>
        </p:nvGraphicFramePr>
        <p:xfrm>
          <a:off x="857741" y="1111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{56772119-7EBD-4052-BD74-AC2035EBC1EB}</a:tableStyleId>
              </a:tblPr>
              <a:tblGrid>
                <a:gridCol w="2928925"/>
                <a:gridCol w="2928925"/>
                <a:gridCol w="2928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REALIZADO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EN PROCESO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POR COMENZAR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</a:t>
                      </a:r>
                      <a:r>
                        <a:rPr lang="pt-BR"/>
                        <a:t>DR.</a:t>
                      </a:r>
                      <a:r>
                        <a:rPr lang="pt-BR"/>
                        <a:t> HORACIO HELLER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CASTRO </a:t>
                      </a:r>
                      <a:r>
                        <a:rPr lang="pt-BR"/>
                        <a:t>RENDÓN</a:t>
                      </a:r>
                      <a:r>
                        <a:rPr lang="pt-BR"/>
                        <a:t> (ADULTOS)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HOSPITAL CASTRO RENDÓN (PEDIÁTRICA)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CENTRO DE SALUD PROGRESO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DE PLOTTIER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HOSPITAL CASTRO RENDÓN (OBSTETRICA)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SENILLOSA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BOUQUET ROLDAN (</a:t>
                      </a:r>
                      <a:r>
                        <a:rPr lang="pt-BR"/>
                        <a:t>ODONTOLOGÍA</a:t>
                      </a:r>
                      <a:r>
                        <a:rPr lang="pt-BR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BOUQUET </a:t>
                      </a:r>
                      <a:r>
                        <a:rPr lang="pt-BR"/>
                        <a:t>ROLDÁN</a:t>
                      </a:r>
                      <a:r>
                        <a:rPr lang="pt-BR"/>
                        <a:t> (ADULTOS)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HOSPITAL CENTENARIO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999417430_0_5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b999417430_0_5"/>
          <p:cNvSpPr txBox="1"/>
          <p:nvPr/>
        </p:nvSpPr>
        <p:spPr>
          <a:xfrm>
            <a:off x="239050" y="169950"/>
            <a:ext cx="1020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COMPARATIVA CONSULTORIO VS. GUARDIA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175" name="Google Shape;175;g3b999417430_0_5"/>
          <p:cNvGraphicFramePr/>
          <p:nvPr/>
        </p:nvGraphicFramePr>
        <p:xfrm>
          <a:off x="75625" y="89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{E7B46221-2E1A-4B86-A51C-B9FB7B806A3A}</a:tableStyleId>
              </a:tblPr>
              <a:tblGrid>
                <a:gridCol w="2529825"/>
                <a:gridCol w="4075025"/>
                <a:gridCol w="3832625"/>
              </a:tblGrid>
              <a:tr h="478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ASPECTO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CONSULTORIO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GUARDIA GENERAL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OBJETIVO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Seguimiento y control.</a:t>
                      </a:r>
                      <a:r>
                        <a:rPr lang="pt-BR" sz="1150"/>
                        <a:t> Problemas de salud </a:t>
                      </a:r>
                      <a:r>
                        <a:rPr b="1" lang="pt-BR" sz="1150"/>
                        <a:t>NO urgentes</a:t>
                      </a:r>
                      <a:r>
                        <a:rPr lang="pt-BR" sz="1150"/>
                        <a:t> o crónicos.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Estabilizar y resolver urgencias.</a:t>
                      </a:r>
                      <a:r>
                        <a:rPr lang="pt-BR" sz="1150"/>
                        <a:t> Problemas de salud </a:t>
                      </a:r>
                      <a:r>
                        <a:rPr b="1" lang="pt-BR" sz="1150"/>
                        <a:t>AGUDOS/GRAVES</a:t>
                      </a:r>
                      <a:r>
                        <a:rPr lang="pt-BR" sz="1150"/>
                        <a:t> que no pueden esperar.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91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CÓMO SE ENTRA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50"/>
                        <a:t>Con </a:t>
                      </a:r>
                      <a:r>
                        <a:rPr b="1" lang="pt-BR" sz="1150"/>
                        <a:t>turno previo</a:t>
                      </a:r>
                      <a:r>
                        <a:rPr lang="pt-BR" sz="1150"/>
                        <a:t> (programado). Se saca días/semanas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Sin turno.</a:t>
                      </a:r>
                      <a:r>
                        <a:rPr lang="pt-BR" sz="1150"/>
                        <a:t> Llegada directa por </a:t>
                      </a:r>
                      <a:r>
                        <a:rPr b="1" lang="pt-BR" sz="1150"/>
                        <a:t>urgencia</a:t>
                      </a:r>
                      <a:r>
                        <a:rPr lang="pt-BR" sz="1150"/>
                        <a:t>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PRIORIDAD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50"/>
                        <a:t>Por </a:t>
                      </a:r>
                      <a:r>
                        <a:rPr b="1" lang="pt-BR" sz="1150"/>
                        <a:t>orden de turno</a:t>
                      </a:r>
                      <a:r>
                        <a:rPr lang="pt-BR" sz="1150"/>
                        <a:t>. 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50"/>
                        <a:t>Por </a:t>
                      </a:r>
                      <a:r>
                        <a:rPr b="1" lang="pt-BR" sz="1150"/>
                        <a:t>gravedad (triage)</a:t>
                      </a:r>
                      <a:r>
                        <a:rPr lang="pt-BR" sz="1150"/>
                        <a:t>. Atiende primero el más grave, no el que llegó primero.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2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TIEMPO CON EL MÉDICO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Más tiempo.</a:t>
                      </a:r>
                      <a:r>
                        <a:rPr lang="pt-BR" sz="1150"/>
                        <a:t> Para hablar, examinar y explicar.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Poco tiempo. </a:t>
                      </a:r>
                      <a:r>
                        <a:rPr lang="pt-BR" sz="1150"/>
                        <a:t>Enfocado solo en la urgencia.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RESULTADO DE LA VISITA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Solución mediana a largo plazo.</a:t>
                      </a:r>
                      <a:r>
                        <a:rPr lang="pt-BR" sz="1150"/>
                        <a:t> Plan de tratamiento, receta, derivación programada a especialista.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Solución inmediata.</a:t>
                      </a:r>
                      <a:r>
                        <a:rPr lang="pt-BR" sz="1150"/>
                        <a:t> Alivio de la urgencia, observación, interacción o derivación.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67519524a_1_2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67519524a_1_21"/>
          <p:cNvSpPr txBox="1"/>
          <p:nvPr/>
        </p:nvSpPr>
        <p:spPr>
          <a:xfrm>
            <a:off x="0" y="195525"/>
            <a:ext cx="1069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COMPARATIVA CONSULTORIO VS. GUARDIA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182" name="Google Shape;182;g3b67519524a_1_21"/>
          <p:cNvGraphicFramePr/>
          <p:nvPr/>
        </p:nvGraphicFramePr>
        <p:xfrm>
          <a:off x="75625" y="7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{E7B46221-2E1A-4B86-A51C-B9FB7B806A3A}</a:tableStyleId>
              </a:tblPr>
              <a:tblGrid>
                <a:gridCol w="2555475"/>
                <a:gridCol w="4116350"/>
                <a:gridCol w="3871500"/>
              </a:tblGrid>
              <a:tr h="62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ASPECTO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CONSULTORIO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GUARDIA GENERAL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QUIÉN TE ATIENDE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Tu médico de cabecera</a:t>
                      </a:r>
                      <a:r>
                        <a:rPr lang="pt-BR" sz="1150"/>
                        <a:t> (o un médico del consultorio externo). Te conoce de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El médico de guardia</a:t>
                      </a:r>
                      <a:r>
                        <a:rPr lang="pt-BR" sz="1150"/>
                        <a:t> de ese día. Es la primera vez que te ve.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CONTINUIDAD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Te da seguimiento.</a:t>
                      </a:r>
                      <a:r>
                        <a:rPr lang="pt-BR" sz="1150"/>
                        <a:t> Agenda el próximo control.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No da seguimiento.</a:t>
                      </a:r>
                      <a:r>
                        <a:rPr lang="pt-BR" sz="1150"/>
                        <a:t> Te dice “vuelva a su médico” o “vaya al consultorio”.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2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DEMORA TOTAL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Demora para conseguir el turno</a:t>
                      </a:r>
                      <a:r>
                        <a:rPr lang="pt-BR" sz="1150"/>
                        <a:t> (días/semanas/mese). Pero el día de la consulta, entras a tu hora.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Demora en la guardia</a:t>
                      </a:r>
                      <a:r>
                        <a:rPr lang="pt-BR" sz="1150"/>
                        <a:t> (horas). Depende de cuánta gente haya y de tu gravedad (color de triage).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7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CONSEJO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Es la puerta de entrada correcta</a:t>
                      </a:r>
                      <a:r>
                        <a:rPr lang="pt-BR" sz="1150"/>
                        <a:t> para el cuidado de tu salud a largo plazo.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Es para emergencias.</a:t>
                      </a:r>
                      <a:r>
                        <a:rPr lang="pt-BR" sz="1150"/>
                        <a:t> Usarla para problemas no urgentes </a:t>
                      </a:r>
                      <a:r>
                        <a:rPr b="1" lang="pt-BR" sz="1150"/>
                        <a:t>satura el sistema</a:t>
                      </a:r>
                      <a:r>
                        <a:rPr lang="pt-BR" sz="1150"/>
                        <a:t> y hace esperar a los graves.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8b2d2aecf_0_227"/>
          <p:cNvSpPr txBox="1"/>
          <p:nvPr>
            <p:ph type="ctrTitle"/>
          </p:nvPr>
        </p:nvSpPr>
        <p:spPr>
          <a:xfrm>
            <a:off x="637701" y="17842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8300"/>
              <a:t>CARACTERISTICAS</a:t>
            </a:r>
            <a:endParaRPr sz="8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67519524a_1_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b67519524a_1_1"/>
          <p:cNvSpPr txBox="1"/>
          <p:nvPr/>
        </p:nvSpPr>
        <p:spPr>
          <a:xfrm>
            <a:off x="297800" y="261400"/>
            <a:ext cx="1009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CARACTERÍSTICAS DEL SPG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94" name="Google Shape;194;g3b67519524a_1_1"/>
          <p:cNvSpPr txBox="1"/>
          <p:nvPr/>
        </p:nvSpPr>
        <p:spPr>
          <a:xfrm>
            <a:off x="311700" y="1017725"/>
            <a:ext cx="10380000" cy="44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ÁGIL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FÁCIL E INTUITIVO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SIMPLE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RÁPIDO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SEGURO y CONFIABLE.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pt-BR" sz="1800">
                <a:solidFill>
                  <a:srgbClr val="FF0000"/>
                </a:solidFill>
              </a:rPr>
              <a:t>HACER LA MENOR CANTIDAD DE CLICS Y PANTALLAS PARA LLEGAR AL PACIENTE</a:t>
            </a:r>
            <a:endParaRPr b="1" sz="1800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pt-BR" sz="1800">
                <a:solidFill>
                  <a:srgbClr val="FF0000"/>
                </a:solidFill>
              </a:rPr>
              <a:t>AGILIZAR EL PROCESO DE DERIVACIÓN</a:t>
            </a:r>
            <a:endParaRPr b="1" sz="1800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ESTAR ARTICULADO CON TODO EL ECOSISTEMA DE ANDES (sil, sifaho, </a:t>
            </a:r>
            <a:r>
              <a:rPr lang="pt-BR" sz="1800">
                <a:solidFill>
                  <a:srgbClr val="595959"/>
                </a:solidFill>
              </a:rPr>
              <a:t>imágenes</a:t>
            </a:r>
            <a:r>
              <a:rPr lang="pt-BR" sz="1800">
                <a:solidFill>
                  <a:srgbClr val="595959"/>
                </a:solidFill>
              </a:rPr>
              <a:t>, recupero financiero, etc</a:t>
            </a:r>
            <a:r>
              <a:rPr lang="pt-BR" sz="1800">
                <a:solidFill>
                  <a:srgbClr val="595959"/>
                </a:solidFill>
              </a:rPr>
              <a:t>).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DAR INFORMACIÓN CONSTANTE DEL ESTADO DE LA GUARDIA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67519524a_1_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b67519524a_1_7"/>
          <p:cNvSpPr txBox="1"/>
          <p:nvPr/>
        </p:nvSpPr>
        <p:spPr>
          <a:xfrm>
            <a:off x="311700" y="445025"/>
            <a:ext cx="1028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QUE ME DEBERÍA PERMITIR CONFIGURAR EL SISTEMA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01" name="Google Shape;201;g3b67519524a_1_7"/>
          <p:cNvSpPr txBox="1"/>
          <p:nvPr/>
        </p:nvSpPr>
        <p:spPr>
          <a:xfrm>
            <a:off x="148225" y="1152475"/>
            <a:ext cx="10450200" cy="4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Colores de </a:t>
            </a:r>
            <a:r>
              <a:rPr lang="pt-BR" sz="1800">
                <a:solidFill>
                  <a:srgbClr val="595959"/>
                </a:solidFill>
              </a:rPr>
              <a:t>triage</a:t>
            </a:r>
            <a:r>
              <a:rPr lang="pt-BR" sz="1800">
                <a:solidFill>
                  <a:srgbClr val="595959"/>
                </a:solidFill>
              </a:rPr>
              <a:t> 3 a 5,  tiempo de espera por colores y alarmas de los cambios.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Destino de los pacientes antes del triage, después </a:t>
            </a:r>
            <a:r>
              <a:rPr lang="pt-BR" sz="1800">
                <a:solidFill>
                  <a:srgbClr val="595959"/>
                </a:solidFill>
              </a:rPr>
              <a:t>del</a:t>
            </a:r>
            <a:r>
              <a:rPr lang="pt-BR" sz="1800">
                <a:solidFill>
                  <a:srgbClr val="595959"/>
                </a:solidFill>
              </a:rPr>
              <a:t> triage, en la atención médica y después de la </a:t>
            </a:r>
            <a:r>
              <a:rPr lang="pt-BR" sz="1800">
                <a:solidFill>
                  <a:srgbClr val="595959"/>
                </a:solidFill>
              </a:rPr>
              <a:t>misma.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Lugares parametrizables: sala</a:t>
            </a:r>
            <a:r>
              <a:rPr lang="pt-BR" sz="1800">
                <a:solidFill>
                  <a:srgbClr val="595959"/>
                </a:solidFill>
              </a:rPr>
              <a:t> </a:t>
            </a:r>
            <a:r>
              <a:rPr lang="pt-BR" sz="1800">
                <a:solidFill>
                  <a:srgbClr val="595959"/>
                </a:solidFill>
              </a:rPr>
              <a:t>de espera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pasillo interno</a:t>
            </a:r>
            <a:r>
              <a:rPr lang="pt-BR" sz="1800">
                <a:solidFill>
                  <a:srgbClr val="595959"/>
                </a:solidFill>
              </a:rPr>
              <a:t>,  </a:t>
            </a:r>
            <a:r>
              <a:rPr lang="pt-BR" sz="1800">
                <a:solidFill>
                  <a:srgbClr val="595959"/>
                </a:solidFill>
              </a:rPr>
              <a:t>boxes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shockroom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camas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sillas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camillas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etc.,</a:t>
            </a:r>
            <a:r>
              <a:rPr lang="pt-BR" sz="1800">
                <a:solidFill>
                  <a:srgbClr val="595959"/>
                </a:solidFill>
              </a:rPr>
              <a:t> para uso de la guardia no censables.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Dotación de enfermeros y médicos por guardia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Estudios (tipo</a:t>
            </a:r>
            <a:r>
              <a:rPr lang="pt-BR" sz="1800">
                <a:solidFill>
                  <a:srgbClr val="595959"/>
                </a:solidFill>
              </a:rPr>
              <a:t> y horario, ej. Plottier y CSP con eco) e </a:t>
            </a:r>
            <a:r>
              <a:rPr lang="pt-BR" sz="1800">
                <a:solidFill>
                  <a:srgbClr val="595959"/>
                </a:solidFill>
              </a:rPr>
              <a:t>interconsultas</a:t>
            </a:r>
            <a:r>
              <a:rPr lang="pt-BR" sz="1800">
                <a:solidFill>
                  <a:srgbClr val="595959"/>
                </a:solidFill>
              </a:rPr>
              <a:t> (especialidades</a:t>
            </a:r>
            <a:r>
              <a:rPr lang="pt-BR" sz="1800">
                <a:solidFill>
                  <a:srgbClr val="595959"/>
                </a:solidFill>
              </a:rPr>
              <a:t>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67519524a_1_4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b67519524a_1_43"/>
          <p:cNvSpPr txBox="1"/>
          <p:nvPr/>
        </p:nvSpPr>
        <p:spPr>
          <a:xfrm>
            <a:off x="311700" y="85400"/>
            <a:ext cx="102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00"/>
                </a:solidFill>
              </a:rPr>
              <a:t>¿</a:t>
            </a:r>
            <a:r>
              <a:rPr lang="pt-BR" sz="2688"/>
              <a:t>QUÉ</a:t>
            </a:r>
            <a:r>
              <a:rPr lang="pt-BR" sz="2688">
                <a:solidFill>
                  <a:srgbClr val="000000"/>
                </a:solidFill>
              </a:rPr>
              <a:t> DEBERÍA TENER EL TABLERO  DE LA GUARDIA?</a:t>
            </a:r>
            <a:endParaRPr sz="2688">
              <a:solidFill>
                <a:srgbClr val="000000"/>
              </a:solidFill>
            </a:endParaRPr>
          </a:p>
        </p:txBody>
      </p:sp>
      <p:sp>
        <p:nvSpPr>
          <p:cNvPr id="208" name="Google Shape;208;g3b67519524a_1_43"/>
          <p:cNvSpPr txBox="1"/>
          <p:nvPr/>
        </p:nvSpPr>
        <p:spPr>
          <a:xfrm>
            <a:off x="311700" y="716575"/>
            <a:ext cx="10307700" cy="4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</a:t>
            </a:r>
            <a:r>
              <a:rPr lang="pt-BR" sz="1800">
                <a:solidFill>
                  <a:srgbClr val="595959"/>
                </a:solidFill>
              </a:rPr>
              <a:t>1-) </a:t>
            </a:r>
            <a:r>
              <a:rPr lang="pt-BR" sz="1800">
                <a:solidFill>
                  <a:srgbClr val="595959"/>
                </a:solidFill>
              </a:rPr>
              <a:t>¿A</a:t>
            </a:r>
            <a:r>
              <a:rPr lang="pt-BR" sz="1800">
                <a:solidFill>
                  <a:srgbClr val="595959"/>
                </a:solidFill>
              </a:rPr>
              <a:t> qué guardia está </a:t>
            </a:r>
            <a:r>
              <a:rPr lang="pt-BR" sz="1800">
                <a:solidFill>
                  <a:srgbClr val="595959"/>
                </a:solidFill>
              </a:rPr>
              <a:t>anotado (general</a:t>
            </a:r>
            <a:r>
              <a:rPr lang="pt-BR" sz="1800">
                <a:solidFill>
                  <a:srgbClr val="595959"/>
                </a:solidFill>
              </a:rPr>
              <a:t>, pediátrica, obstétrica, etc.)?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02-) Fecha y </a:t>
            </a:r>
            <a:r>
              <a:rPr lang="pt-BR" sz="1800">
                <a:solidFill>
                  <a:srgbClr val="595959"/>
                </a:solidFill>
              </a:rPr>
              <a:t>hora</a:t>
            </a:r>
            <a:r>
              <a:rPr lang="pt-BR" sz="1800">
                <a:solidFill>
                  <a:srgbClr val="595959"/>
                </a:solidFill>
              </a:rPr>
              <a:t> recepcionada por </a:t>
            </a:r>
            <a:r>
              <a:rPr lang="pt-BR" sz="1800">
                <a:solidFill>
                  <a:srgbClr val="595959"/>
                </a:solidFill>
              </a:rPr>
              <a:t>Admisión.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03-) DNI, EDAD y Apellido y Nombre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04-) Color de </a:t>
            </a:r>
            <a:r>
              <a:rPr lang="pt-BR" sz="1800">
                <a:solidFill>
                  <a:srgbClr val="595959"/>
                </a:solidFill>
              </a:rPr>
              <a:t>triage</a:t>
            </a:r>
            <a:r>
              <a:rPr lang="pt-BR" sz="1800">
                <a:solidFill>
                  <a:srgbClr val="595959"/>
                </a:solidFill>
              </a:rPr>
              <a:t> (default blanco los que esperan ser atendidos en consultorio de </a:t>
            </a:r>
            <a:r>
              <a:rPr lang="pt-BR" sz="1800">
                <a:solidFill>
                  <a:srgbClr val="595959"/>
                </a:solidFill>
              </a:rPr>
              <a:t>triage).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05-) Motivo consulta (refiere el paciente) o  (si fue realizado el triage).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06-) Presente o </a:t>
            </a:r>
            <a:r>
              <a:rPr lang="pt-BR" sz="1800">
                <a:solidFill>
                  <a:srgbClr val="595959"/>
                </a:solidFill>
              </a:rPr>
              <a:t>ausente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07-) Ubicación del </a:t>
            </a:r>
            <a:r>
              <a:rPr lang="pt-BR" sz="1800">
                <a:solidFill>
                  <a:srgbClr val="595959"/>
                </a:solidFill>
              </a:rPr>
              <a:t>paciente</a:t>
            </a:r>
            <a:r>
              <a:rPr lang="pt-BR" sz="1800">
                <a:solidFill>
                  <a:srgbClr val="595959"/>
                </a:solidFill>
              </a:rPr>
              <a:t>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08-) Indicadores de </a:t>
            </a:r>
            <a:r>
              <a:rPr lang="pt-BR" sz="1800">
                <a:solidFill>
                  <a:srgbClr val="595959"/>
                </a:solidFill>
              </a:rPr>
              <a:t>laboratorios</a:t>
            </a:r>
            <a:r>
              <a:rPr lang="pt-BR" sz="1800">
                <a:solidFill>
                  <a:srgbClr val="595959"/>
                </a:solidFill>
              </a:rPr>
              <a:t> y </a:t>
            </a:r>
            <a:r>
              <a:rPr lang="pt-BR" sz="1800">
                <a:solidFill>
                  <a:srgbClr val="595959"/>
                </a:solidFill>
              </a:rPr>
              <a:t>estudios.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09-) Camillero (es cuando el profesional o enfermero solicitan trasladar al paciente).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10-) </a:t>
            </a:r>
            <a:r>
              <a:rPr lang="pt-BR" sz="1800">
                <a:solidFill>
                  <a:srgbClr val="595959"/>
                </a:solidFill>
              </a:rPr>
              <a:t>Saber</a:t>
            </a:r>
            <a:r>
              <a:rPr lang="pt-BR" sz="1800">
                <a:solidFill>
                  <a:srgbClr val="595959"/>
                </a:solidFill>
              </a:rPr>
              <a:t> a cada momento quién lo está atendiendo y el lugar dentro de la guardia.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11-) Mostrar el destino del paciente en todo su proceso de </a:t>
            </a:r>
            <a:r>
              <a:rPr lang="pt-BR" sz="1800">
                <a:solidFill>
                  <a:srgbClr val="595959"/>
                </a:solidFill>
              </a:rPr>
              <a:t>atención,</a:t>
            </a:r>
            <a:r>
              <a:rPr lang="pt-BR" sz="1800">
                <a:solidFill>
                  <a:srgbClr val="595959"/>
                </a:solidFill>
              </a:rPr>
              <a:t> incluido el alta del mismo. (Alta </a:t>
            </a:r>
            <a:r>
              <a:rPr lang="pt-BR" sz="1800">
                <a:solidFill>
                  <a:srgbClr val="595959"/>
                </a:solidFill>
              </a:rPr>
              <a:t>enfermería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alta médica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alta voluntaria</a:t>
            </a:r>
            <a:r>
              <a:rPr lang="pt-BR" sz="1800">
                <a:solidFill>
                  <a:srgbClr val="595959"/>
                </a:solidFill>
              </a:rPr>
              <a:t>,  </a:t>
            </a:r>
            <a:r>
              <a:rPr lang="pt-BR" sz="1800">
                <a:solidFill>
                  <a:srgbClr val="595959"/>
                </a:solidFill>
              </a:rPr>
              <a:t>derivación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defunción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fuga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internación, etc</a:t>
            </a:r>
            <a:r>
              <a:rPr lang="pt-BR" sz="1800">
                <a:solidFill>
                  <a:srgbClr val="595959"/>
                </a:solidFill>
              </a:rPr>
              <a:t>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9398b8431_0_21"/>
          <p:cNvSpPr txBox="1"/>
          <p:nvPr>
            <p:ph idx="11" type="ftr"/>
          </p:nvPr>
        </p:nvSpPr>
        <p:spPr>
          <a:xfrm>
            <a:off x="3541663" y="7006700"/>
            <a:ext cx="3608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b9398b8431_0_21"/>
          <p:cNvSpPr txBox="1"/>
          <p:nvPr/>
        </p:nvSpPr>
        <p:spPr>
          <a:xfrm>
            <a:off x="0" y="0"/>
            <a:ext cx="106446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50" lIns="110450" spcFirstLastPara="1" rIns="110450" wrap="square" tIns="110450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82"/>
              <a:t>MÓDULOS QUE DEBE CONTEMPLAR EL SISTEMA</a:t>
            </a:r>
            <a:endParaRPr sz="3382">
              <a:solidFill>
                <a:srgbClr val="000000"/>
              </a:solidFill>
            </a:endParaRPr>
          </a:p>
        </p:txBody>
      </p:sp>
      <p:graphicFrame>
        <p:nvGraphicFramePr>
          <p:cNvPr id="215" name="Google Shape;215;g3b9398b8431_0_21"/>
          <p:cNvGraphicFramePr/>
          <p:nvPr/>
        </p:nvGraphicFramePr>
        <p:xfrm>
          <a:off x="805100" y="867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{56772119-7EBD-4052-BD74-AC2035EBC1EB}</a:tableStyleId>
              </a:tblPr>
              <a:tblGrid>
                <a:gridCol w="2196700"/>
                <a:gridCol w="2196700"/>
                <a:gridCol w="2196700"/>
                <a:gridCol w="2196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ADMISION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ENFERMERÍA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MEDICO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ADMINISTRATIVO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-Recepción de Pacietes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Triage de enfermería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Módulo de Atención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Prescripciones a enfermería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Recupero financiero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Recepción de llamadas: policía, sien, otros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efectorirores, etc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Prescripciones médicas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Derivación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-Solicitudes de estudios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-Solicitud de laboratorios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-Interconsultas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Evoluciones sin indicaciones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 médicas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Certificado de defunción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-Receta electrónica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-Retiro voluntario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Certificado policial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-Notas sin necesidad de diagnóstico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-Fuga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-Certificados de atención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8b2d2aecf_0_231"/>
          <p:cNvSpPr txBox="1"/>
          <p:nvPr>
            <p:ph type="ctrTitle"/>
          </p:nvPr>
        </p:nvSpPr>
        <p:spPr>
          <a:xfrm>
            <a:off x="607601" y="19764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7600"/>
              <a:t>DATOS DEL SISTEMA</a:t>
            </a:r>
            <a:endParaRPr sz="7600"/>
          </a:p>
        </p:txBody>
      </p:sp>
      <p:sp>
        <p:nvSpPr>
          <p:cNvPr id="221" name="Google Shape;221;g3b8b2d2aecf_0_231"/>
          <p:cNvSpPr txBox="1"/>
          <p:nvPr/>
        </p:nvSpPr>
        <p:spPr>
          <a:xfrm>
            <a:off x="3150375" y="3273850"/>
            <a:ext cx="7107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¿QUE DEBERIA TENER?</a:t>
            </a:r>
            <a:endParaRPr b="1" sz="2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67519524a_1_6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67519524a_1_63"/>
          <p:cNvSpPr txBox="1"/>
          <p:nvPr/>
        </p:nvSpPr>
        <p:spPr>
          <a:xfrm>
            <a:off x="311700" y="85425"/>
            <a:ext cx="98103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75" lIns="105275" spcFirstLastPara="1" rIns="105275" wrap="square" tIns="10527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23"/>
              <a:t>DATOS QUE DEBERÍA TENER EL FORMULARIO ADMISIÓN</a:t>
            </a:r>
            <a:endParaRPr sz="3223">
              <a:solidFill>
                <a:srgbClr val="000000"/>
              </a:solidFill>
            </a:endParaRPr>
          </a:p>
        </p:txBody>
      </p:sp>
      <p:sp>
        <p:nvSpPr>
          <p:cNvPr id="228" name="Google Shape;228;g3b67519524a_1_63"/>
          <p:cNvSpPr txBox="1"/>
          <p:nvPr/>
        </p:nvSpPr>
        <p:spPr>
          <a:xfrm>
            <a:off x="311700" y="845262"/>
            <a:ext cx="4605300" cy="4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75" lIns="105275" spcFirstLastPara="1" rIns="105275" wrap="square" tIns="105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DNI</a:t>
            </a:r>
            <a:r>
              <a:rPr lang="pt-BR" sz="1611">
                <a:solidFill>
                  <a:srgbClr val="595959"/>
                </a:solidFill>
              </a:rPr>
              <a:t> </a:t>
            </a:r>
            <a:endParaRPr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Apellido y </a:t>
            </a:r>
            <a:r>
              <a:rPr b="1" lang="pt-BR" sz="1611">
                <a:solidFill>
                  <a:srgbClr val="595959"/>
                </a:solidFill>
              </a:rPr>
              <a:t>nombre</a:t>
            </a:r>
            <a:endParaRPr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Motivo </a:t>
            </a:r>
            <a:r>
              <a:rPr b="1" lang="pt-BR" sz="1611">
                <a:solidFill>
                  <a:srgbClr val="595959"/>
                </a:solidFill>
              </a:rPr>
              <a:t>consulta</a:t>
            </a:r>
            <a:r>
              <a:rPr lang="pt-BR" sz="1611">
                <a:solidFill>
                  <a:srgbClr val="595959"/>
                </a:solidFill>
              </a:rPr>
              <a:t> → texto libre</a:t>
            </a:r>
            <a:endParaRPr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Tipo de </a:t>
            </a:r>
            <a:r>
              <a:rPr b="1" lang="pt-BR" sz="1611">
                <a:solidFill>
                  <a:srgbClr val="595959"/>
                </a:solidFill>
              </a:rPr>
              <a:t>guardia</a:t>
            </a:r>
            <a:r>
              <a:rPr b="1" lang="pt-BR" sz="1611">
                <a:solidFill>
                  <a:srgbClr val="595959"/>
                </a:solidFill>
              </a:rPr>
              <a:t> a la que </a:t>
            </a:r>
            <a:r>
              <a:rPr b="1" lang="pt-BR" sz="1611">
                <a:solidFill>
                  <a:srgbClr val="595959"/>
                </a:solidFill>
              </a:rPr>
              <a:t>acude.</a:t>
            </a:r>
            <a:endParaRPr b="1"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Elegir el lugar donde está el </a:t>
            </a:r>
            <a:r>
              <a:rPr b="1" lang="pt-BR" sz="1611">
                <a:solidFill>
                  <a:srgbClr val="595959"/>
                </a:solidFill>
              </a:rPr>
              <a:t>paciente.</a:t>
            </a:r>
            <a:endParaRPr b="1"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1382"/>
              </a:spcAft>
              <a:buNone/>
            </a:pPr>
            <a:r>
              <a:t/>
            </a:r>
            <a:endParaRPr b="1" sz="161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67519524a_1_7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b67519524a_1_77"/>
          <p:cNvSpPr txBox="1"/>
          <p:nvPr/>
        </p:nvSpPr>
        <p:spPr>
          <a:xfrm>
            <a:off x="311700" y="85425"/>
            <a:ext cx="10223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25" lIns="104625" spcFirstLastPara="1" rIns="104625" wrap="square" tIns="1046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3"/>
              <a:t>DATOS A DEFINIR QUE DEBERÍA TENER EL FORMULARIO DE TRIAGE</a:t>
            </a:r>
            <a:endParaRPr sz="3203">
              <a:solidFill>
                <a:srgbClr val="000000"/>
              </a:solidFill>
            </a:endParaRPr>
          </a:p>
        </p:txBody>
      </p:sp>
      <p:sp>
        <p:nvSpPr>
          <p:cNvPr id="235" name="Google Shape;235;g3b67519524a_1_77"/>
          <p:cNvSpPr txBox="1"/>
          <p:nvPr/>
        </p:nvSpPr>
        <p:spPr>
          <a:xfrm>
            <a:off x="311700" y="840573"/>
            <a:ext cx="47994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25" lIns="104625" spcFirstLastPara="1" rIns="104625" wrap="square" tIns="1046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Motivo de </a:t>
            </a:r>
            <a:r>
              <a:rPr b="1" lang="pt-BR" sz="1601">
                <a:solidFill>
                  <a:srgbClr val="595959"/>
                </a:solidFill>
              </a:rPr>
              <a:t>consulta</a:t>
            </a:r>
            <a:r>
              <a:rPr lang="pt-BR" sz="1601">
                <a:solidFill>
                  <a:srgbClr val="595959"/>
                </a:solidFill>
              </a:rPr>
              <a:t> → texto libre según lo expresa el paciente.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Diagnóstico </a:t>
            </a:r>
            <a:r>
              <a:rPr lang="pt-BR" sz="1601">
                <a:solidFill>
                  <a:srgbClr val="595959"/>
                </a:solidFill>
              </a:rPr>
              <a:t>→ </a:t>
            </a:r>
            <a:r>
              <a:rPr lang="pt-BR" sz="1373">
                <a:solidFill>
                  <a:srgbClr val="595959"/>
                </a:solidFill>
                <a:highlight>
                  <a:srgbClr val="FFFFFF"/>
                </a:highlight>
              </a:rPr>
              <a:t>NANDA-I (North American Nursing Diagnosis Association International</a:t>
            </a:r>
            <a:r>
              <a:rPr lang="pt-BR" sz="1601">
                <a:solidFill>
                  <a:srgbClr val="595959"/>
                </a:solidFill>
              </a:rPr>
              <a:t> / </a:t>
            </a:r>
            <a:r>
              <a:rPr lang="pt-BR" sz="1373">
                <a:solidFill>
                  <a:srgbClr val="595959"/>
                </a:solidFill>
                <a:highlight>
                  <a:srgbClr val="FFFFFF"/>
                </a:highlight>
              </a:rPr>
              <a:t>SNOMED CT / texto libre / </a:t>
            </a:r>
            <a:r>
              <a:rPr lang="pt-BR" sz="1373">
                <a:solidFill>
                  <a:srgbClr val="595959"/>
                </a:solidFill>
                <a:highlight>
                  <a:srgbClr val="FFFFFF"/>
                </a:highlight>
              </a:rPr>
              <a:t>Virginia Henderson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lang="pt-BR" sz="1601">
                <a:solidFill>
                  <a:srgbClr val="595959"/>
                </a:solidFill>
              </a:rPr>
              <a:t>Signos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TA Min</a:t>
            </a:r>
            <a:r>
              <a:rPr lang="pt-BR" sz="1601">
                <a:solidFill>
                  <a:srgbClr val="595959"/>
                </a:solidFill>
              </a:rPr>
              <a:t> —&gt; Número entero 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TA Max</a:t>
            </a:r>
            <a:r>
              <a:rPr lang="pt-BR" sz="1601">
                <a:solidFill>
                  <a:srgbClr val="595959"/>
                </a:solidFill>
              </a:rPr>
              <a:t> → Número </a:t>
            </a:r>
            <a:r>
              <a:rPr lang="pt-BR" sz="1601">
                <a:solidFill>
                  <a:srgbClr val="595959"/>
                </a:solidFill>
              </a:rPr>
              <a:t>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Los valores se dan como 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sistólica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/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diastólica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 (ej: 120/80). 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Frecuencia </a:t>
            </a:r>
            <a:r>
              <a:rPr b="1" lang="pt-BR" sz="1601">
                <a:solidFill>
                  <a:srgbClr val="595959"/>
                </a:solidFill>
              </a:rPr>
              <a:t>cardiaca</a:t>
            </a:r>
            <a:r>
              <a:rPr lang="pt-BR" sz="1601">
                <a:solidFill>
                  <a:srgbClr val="595959"/>
                </a:solidFill>
              </a:rPr>
              <a:t> 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Saturación </a:t>
            </a:r>
            <a:r>
              <a:rPr b="1" lang="pt-BR" sz="1601">
                <a:solidFill>
                  <a:srgbClr val="595959"/>
                </a:solidFill>
              </a:rPr>
              <a:t>de oxígeno</a:t>
            </a:r>
            <a:r>
              <a:rPr b="1" lang="pt-BR" sz="1601">
                <a:solidFill>
                  <a:srgbClr val="595959"/>
                </a:solidFill>
              </a:rPr>
              <a:t> </a:t>
            </a:r>
            <a:r>
              <a:rPr lang="pt-BR" sz="1601">
                <a:solidFill>
                  <a:srgbClr val="595959"/>
                </a:solidFill>
              </a:rPr>
              <a:t>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Frecuencia </a:t>
            </a:r>
            <a:r>
              <a:rPr b="1" lang="pt-BR" sz="1601">
                <a:solidFill>
                  <a:srgbClr val="595959"/>
                </a:solidFill>
              </a:rPr>
              <a:t>respiratoria</a:t>
            </a:r>
            <a:r>
              <a:rPr lang="pt-BR" sz="1601">
                <a:solidFill>
                  <a:srgbClr val="595959"/>
                </a:solidFill>
              </a:rPr>
              <a:t> 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lang="pt-BR" sz="1601">
                <a:solidFill>
                  <a:srgbClr val="595959"/>
                </a:solidFill>
              </a:rPr>
              <a:t> </a:t>
            </a:r>
            <a:r>
              <a:rPr b="1" lang="pt-BR" sz="1601">
                <a:solidFill>
                  <a:srgbClr val="595959"/>
                </a:solidFill>
              </a:rPr>
              <a:t>Nivel de </a:t>
            </a:r>
            <a:r>
              <a:rPr b="1" lang="pt-BR" sz="1601">
                <a:solidFill>
                  <a:srgbClr val="595959"/>
                </a:solidFill>
              </a:rPr>
              <a:t>insulina</a:t>
            </a:r>
            <a:r>
              <a:rPr b="1" lang="pt-BR" sz="1601">
                <a:solidFill>
                  <a:srgbClr val="595959"/>
                </a:solidFill>
              </a:rPr>
              <a:t> Hemoglucotest </a:t>
            </a:r>
            <a:r>
              <a:rPr lang="pt-BR" sz="1601">
                <a:solidFill>
                  <a:srgbClr val="595959"/>
                </a:solidFill>
              </a:rPr>
              <a:t>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1373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Factores</a:t>
            </a:r>
            <a:r>
              <a:rPr b="1" lang="pt-BR" sz="1373">
                <a:solidFill>
                  <a:srgbClr val="0A0A0A"/>
                </a:solidFill>
                <a:highlight>
                  <a:srgbClr val="FFFFFF"/>
                </a:highlight>
              </a:rPr>
              <a:t> </a:t>
            </a:r>
            <a:r>
              <a:rPr b="1" lang="pt-BR" sz="1373">
                <a:solidFill>
                  <a:srgbClr val="0A0A0A"/>
                </a:solidFill>
                <a:highlight>
                  <a:srgbClr val="FFFFFF"/>
                </a:highlight>
              </a:rPr>
              <a:t>de riesgo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 → texto libre</a:t>
            </a:r>
            <a:endParaRPr b="1" sz="1373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36" name="Google Shape;236;g3b67519524a_1_77"/>
          <p:cNvSpPr txBox="1"/>
          <p:nvPr/>
        </p:nvSpPr>
        <p:spPr>
          <a:xfrm>
            <a:off x="5788404" y="790684"/>
            <a:ext cx="4799400" cy="5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25" lIns="104625" spcFirstLastPara="1" rIns="104625" wrap="square" tIns="1046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Escala Glasgow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gravedad: 13-15 (leve), 9-12 (moderado), 3-8 (grave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);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 puede cambiar la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clasificación.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Peso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→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Número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 con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decimales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Sensorio 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Sibilancia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Pupilas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Electrocardiograma</a:t>
            </a:r>
            <a:r>
              <a:rPr lang="pt-BR" sz="1601">
                <a:solidFill>
                  <a:srgbClr val="595959"/>
                </a:solidFill>
              </a:rPr>
              <a:t> → S/N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Evolución </a:t>
            </a:r>
            <a:r>
              <a:rPr lang="pt-BR" sz="1601">
                <a:solidFill>
                  <a:srgbClr val="595959"/>
                </a:solidFill>
              </a:rPr>
              <a:t>→ texto libre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Clasificación </a:t>
            </a:r>
            <a:r>
              <a:rPr lang="pt-BR" sz="1601">
                <a:solidFill>
                  <a:srgbClr val="595959"/>
                </a:solidFill>
              </a:rPr>
              <a:t>→ Color de </a:t>
            </a:r>
            <a:r>
              <a:rPr lang="pt-BR" sz="1601">
                <a:solidFill>
                  <a:srgbClr val="595959"/>
                </a:solidFill>
              </a:rPr>
              <a:t>triage</a:t>
            </a:r>
            <a:r>
              <a:rPr lang="pt-BR" sz="1601">
                <a:solidFill>
                  <a:srgbClr val="595959"/>
                </a:solidFill>
              </a:rPr>
              <a:t> (</a:t>
            </a:r>
            <a:r>
              <a:rPr lang="pt-BR" sz="1601">
                <a:solidFill>
                  <a:srgbClr val="595959"/>
                </a:solidFill>
              </a:rPr>
              <a:t>rojo</a:t>
            </a:r>
            <a:r>
              <a:rPr lang="pt-BR" sz="1601">
                <a:solidFill>
                  <a:srgbClr val="595959"/>
                </a:solidFill>
              </a:rPr>
              <a:t>, </a:t>
            </a:r>
            <a:r>
              <a:rPr lang="pt-BR" sz="1601">
                <a:solidFill>
                  <a:srgbClr val="595959"/>
                </a:solidFill>
              </a:rPr>
              <a:t>naranja</a:t>
            </a:r>
            <a:r>
              <a:rPr lang="pt-BR" sz="1601">
                <a:solidFill>
                  <a:srgbClr val="595959"/>
                </a:solidFill>
              </a:rPr>
              <a:t>, </a:t>
            </a:r>
            <a:r>
              <a:rPr lang="pt-BR" sz="1601">
                <a:solidFill>
                  <a:srgbClr val="595959"/>
                </a:solidFill>
              </a:rPr>
              <a:t>amarillo</a:t>
            </a:r>
            <a:r>
              <a:rPr lang="pt-BR" sz="1601">
                <a:solidFill>
                  <a:srgbClr val="595959"/>
                </a:solidFill>
              </a:rPr>
              <a:t>, </a:t>
            </a:r>
            <a:r>
              <a:rPr lang="pt-BR" sz="1601">
                <a:solidFill>
                  <a:srgbClr val="595959"/>
                </a:solidFill>
              </a:rPr>
              <a:t>verde</a:t>
            </a:r>
            <a:r>
              <a:rPr lang="pt-BR" sz="1601">
                <a:solidFill>
                  <a:srgbClr val="595959"/>
                </a:solidFill>
              </a:rPr>
              <a:t> y </a:t>
            </a:r>
            <a:r>
              <a:rPr lang="pt-BR" sz="1601">
                <a:solidFill>
                  <a:srgbClr val="595959"/>
                </a:solidFill>
              </a:rPr>
              <a:t>azul</a:t>
            </a:r>
            <a:r>
              <a:rPr lang="pt-BR" sz="1601">
                <a:solidFill>
                  <a:srgbClr val="595959"/>
                </a:solidFill>
              </a:rPr>
              <a:t>) según la institución.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1373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Ubicación</a:t>
            </a:r>
            <a:r>
              <a:rPr lang="pt-BR" sz="1601">
                <a:solidFill>
                  <a:srgbClr val="595959"/>
                </a:solidFill>
              </a:rPr>
              <a:t>: Lugar donde queda el paciente una vez finalizado el </a:t>
            </a:r>
            <a:r>
              <a:rPr lang="pt-BR" sz="1601">
                <a:solidFill>
                  <a:srgbClr val="595959"/>
                </a:solidFill>
              </a:rPr>
              <a:t>triage</a:t>
            </a:r>
            <a:r>
              <a:rPr lang="pt-BR" sz="1601">
                <a:solidFill>
                  <a:srgbClr val="595959"/>
                </a:solidFill>
              </a:rPr>
              <a:t>, según la </a:t>
            </a:r>
            <a:r>
              <a:rPr lang="pt-BR" sz="1601">
                <a:solidFill>
                  <a:srgbClr val="595959"/>
                </a:solidFill>
              </a:rPr>
              <a:t>institución.</a:t>
            </a:r>
            <a:endParaRPr sz="160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67519524a_1_95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67519524a_1_95"/>
          <p:cNvSpPr txBox="1"/>
          <p:nvPr/>
        </p:nvSpPr>
        <p:spPr>
          <a:xfrm>
            <a:off x="311700" y="85425"/>
            <a:ext cx="10203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150" lIns="104150" spcFirstLastPara="1" rIns="104150" wrap="square" tIns="104150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/>
              <a:t>DATOS A DEFINIR QUE DEBERÍA TENER EL FORMULARIO ATENCIÓN MÉDICA</a:t>
            </a:r>
            <a:endParaRPr sz="3190">
              <a:solidFill>
                <a:srgbClr val="000000"/>
              </a:solidFill>
            </a:endParaRPr>
          </a:p>
        </p:txBody>
      </p:sp>
      <p:sp>
        <p:nvSpPr>
          <p:cNvPr id="243" name="Google Shape;243;g3b67519524a_1_95"/>
          <p:cNvSpPr txBox="1"/>
          <p:nvPr/>
        </p:nvSpPr>
        <p:spPr>
          <a:xfrm>
            <a:off x="311700" y="837315"/>
            <a:ext cx="4789500" cy="4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150" lIns="104150" spcFirstLastPara="1" rIns="104150" wrap="square" tIns="10415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Motivo de </a:t>
            </a:r>
            <a:r>
              <a:rPr b="1" lang="pt-BR" sz="1595">
                <a:solidFill>
                  <a:srgbClr val="595959"/>
                </a:solidFill>
              </a:rPr>
              <a:t>consulta</a:t>
            </a:r>
            <a:r>
              <a:rPr lang="pt-BR" sz="1595">
                <a:solidFill>
                  <a:srgbClr val="595959"/>
                </a:solidFill>
              </a:rPr>
              <a:t> → texto libre según lo expresa el paciente. Tomar del triage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Diagnóstico </a:t>
            </a:r>
            <a:r>
              <a:rPr b="1" lang="pt-BR" sz="1595">
                <a:solidFill>
                  <a:srgbClr val="595959"/>
                </a:solidFill>
              </a:rPr>
              <a:t>presuntivo</a:t>
            </a:r>
            <a:r>
              <a:rPr b="1" lang="pt-BR" sz="1595">
                <a:solidFill>
                  <a:srgbClr val="595959"/>
                </a:solidFill>
              </a:rPr>
              <a:t> </a:t>
            </a:r>
            <a:r>
              <a:rPr lang="pt-BR" sz="1595">
                <a:solidFill>
                  <a:srgbClr val="595959"/>
                </a:solidFill>
              </a:rPr>
              <a:t>→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CIE10</a:t>
            </a:r>
            <a:r>
              <a:rPr lang="pt-BR" sz="1595">
                <a:solidFill>
                  <a:srgbClr val="595959"/>
                </a:solidFill>
              </a:rPr>
              <a:t> /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SNOMED CT / texto libre</a:t>
            </a:r>
            <a:endParaRPr sz="1367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Diagnóstico principal</a:t>
            </a:r>
            <a:r>
              <a:rPr b="1" lang="pt-BR" sz="1367">
                <a:solidFill>
                  <a:srgbClr val="595959"/>
                </a:solidFill>
                <a:highlight>
                  <a:srgbClr val="FFFFFF"/>
                </a:highlight>
              </a:rPr>
              <a:t>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→ CIE10</a:t>
            </a:r>
            <a:r>
              <a:rPr lang="pt-BR" sz="1595">
                <a:solidFill>
                  <a:srgbClr val="595959"/>
                </a:solidFill>
              </a:rPr>
              <a:t> /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SNOMED obligatorio</a:t>
            </a:r>
            <a:endParaRPr sz="1367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Evolución </a:t>
            </a:r>
            <a:r>
              <a:rPr lang="pt-BR" sz="1595">
                <a:solidFill>
                  <a:srgbClr val="595959"/>
                </a:solidFill>
              </a:rPr>
              <a:t>→ texto libre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Solicita </a:t>
            </a:r>
            <a:r>
              <a:rPr b="1" lang="pt-BR" sz="1595">
                <a:solidFill>
                  <a:srgbClr val="595959"/>
                </a:solidFill>
              </a:rPr>
              <a:t>interconsulta</a:t>
            </a:r>
            <a:r>
              <a:rPr lang="pt-BR" sz="1595">
                <a:solidFill>
                  <a:srgbClr val="595959"/>
                </a:solidFill>
              </a:rPr>
              <a:t> → seleccionar </a:t>
            </a:r>
            <a:r>
              <a:rPr lang="pt-BR" sz="1595">
                <a:solidFill>
                  <a:srgbClr val="595959"/>
                </a:solidFill>
              </a:rPr>
              <a:t>especialidad.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Solicitar estudios</a:t>
            </a:r>
            <a:r>
              <a:rPr lang="pt-BR" sz="1595">
                <a:solidFill>
                  <a:srgbClr val="595959"/>
                </a:solidFill>
              </a:rPr>
              <a:t> → agregar uno o </a:t>
            </a:r>
            <a:r>
              <a:rPr lang="pt-BR" sz="1595">
                <a:solidFill>
                  <a:srgbClr val="595959"/>
                </a:solidFill>
              </a:rPr>
              <a:t>varios.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Solicitar TTO </a:t>
            </a:r>
            <a:r>
              <a:rPr lang="pt-BR" sz="1595">
                <a:solidFill>
                  <a:srgbClr val="595959"/>
                </a:solidFill>
              </a:rPr>
              <a:t>a </a:t>
            </a:r>
            <a:r>
              <a:rPr lang="pt-BR" sz="1595">
                <a:solidFill>
                  <a:srgbClr val="595959"/>
                </a:solidFill>
              </a:rPr>
              <a:t>Enfermería.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Prescripción de </a:t>
            </a:r>
            <a:r>
              <a:rPr b="1" lang="pt-BR" sz="1595">
                <a:solidFill>
                  <a:srgbClr val="595959"/>
                </a:solidFill>
              </a:rPr>
              <a:t>medicamento</a:t>
            </a:r>
            <a:r>
              <a:rPr b="1" lang="pt-BR" sz="1595">
                <a:solidFill>
                  <a:srgbClr val="595959"/>
                </a:solidFill>
              </a:rPr>
              <a:t> → </a:t>
            </a:r>
            <a:r>
              <a:rPr lang="pt-BR" sz="1595">
                <a:solidFill>
                  <a:srgbClr val="595959"/>
                </a:solidFill>
              </a:rPr>
              <a:t>Receta </a:t>
            </a:r>
            <a:r>
              <a:rPr lang="pt-BR" sz="1595">
                <a:solidFill>
                  <a:srgbClr val="595959"/>
                </a:solidFill>
              </a:rPr>
              <a:t>electrónica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¿Primera </a:t>
            </a:r>
            <a:r>
              <a:rPr lang="pt-BR" sz="1595">
                <a:solidFill>
                  <a:srgbClr val="595959"/>
                </a:solidFill>
              </a:rPr>
              <a:t>vez</a:t>
            </a:r>
            <a:r>
              <a:rPr lang="pt-BR" sz="1595">
                <a:solidFill>
                  <a:srgbClr val="595959"/>
                </a:solidFill>
              </a:rPr>
              <a:t> que se atiende por esa patología en guardia? Si / No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¿Presenta</a:t>
            </a:r>
            <a:r>
              <a:rPr lang="pt-BR" sz="1595">
                <a:solidFill>
                  <a:srgbClr val="595959"/>
                </a:solidFill>
              </a:rPr>
              <a:t> </a:t>
            </a:r>
            <a:r>
              <a:rPr lang="pt-BR" sz="1595">
                <a:solidFill>
                  <a:srgbClr val="595959"/>
                </a:solidFill>
              </a:rPr>
              <a:t>carnet</a:t>
            </a:r>
            <a:r>
              <a:rPr lang="pt-BR" sz="1595">
                <a:solidFill>
                  <a:srgbClr val="595959"/>
                </a:solidFill>
              </a:rPr>
              <a:t> de </a:t>
            </a:r>
            <a:r>
              <a:rPr lang="pt-BR" sz="1595">
                <a:solidFill>
                  <a:srgbClr val="595959"/>
                </a:solidFill>
              </a:rPr>
              <a:t>vacunas</a:t>
            </a:r>
            <a:r>
              <a:rPr lang="pt-BR" sz="1595">
                <a:solidFill>
                  <a:srgbClr val="595959"/>
                </a:solidFill>
              </a:rPr>
              <a:t> al </a:t>
            </a:r>
            <a:r>
              <a:rPr lang="pt-BR" sz="1595">
                <a:solidFill>
                  <a:srgbClr val="595959"/>
                </a:solidFill>
              </a:rPr>
              <a:t>día</a:t>
            </a:r>
            <a:r>
              <a:rPr lang="pt-BR" sz="1595">
                <a:solidFill>
                  <a:srgbClr val="595959"/>
                </a:solidFill>
              </a:rPr>
              <a:t> SI/NO</a:t>
            </a:r>
            <a:r>
              <a:rPr lang="pt-BR" sz="1595">
                <a:solidFill>
                  <a:srgbClr val="595959"/>
                </a:solidFill>
              </a:rPr>
              <a:t>?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1367"/>
              </a:spcAft>
              <a:buNone/>
            </a:pPr>
            <a:r>
              <a:t/>
            </a:r>
            <a:endParaRPr sz="1367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44" name="Google Shape;244;g3b67519524a_1_95"/>
          <p:cNvSpPr txBox="1"/>
          <p:nvPr/>
        </p:nvSpPr>
        <p:spPr>
          <a:xfrm>
            <a:off x="5777130" y="787640"/>
            <a:ext cx="4789500" cy="5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150" lIns="104150" spcFirstLastPara="1" rIns="104150" wrap="square" tIns="1041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Poder </a:t>
            </a:r>
            <a:r>
              <a:rPr lang="pt-BR" sz="1595">
                <a:solidFill>
                  <a:srgbClr val="595959"/>
                </a:solidFill>
              </a:rPr>
              <a:t>ver.</a:t>
            </a:r>
            <a:r>
              <a:rPr lang="pt-BR" sz="1595">
                <a:solidFill>
                  <a:srgbClr val="595959"/>
                </a:solidFill>
              </a:rPr>
              <a:t> 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Los</a:t>
            </a:r>
            <a:r>
              <a:rPr lang="pt-BR" sz="1595">
                <a:solidFill>
                  <a:srgbClr val="595959"/>
                </a:solidFill>
              </a:rPr>
              <a:t> N Triage de Guardia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Las últimas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anteriores en guardia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Las últimas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atenciones en </a:t>
            </a:r>
            <a:r>
              <a:rPr lang="pt-BR" sz="1595">
                <a:solidFill>
                  <a:srgbClr val="595959"/>
                </a:solidFill>
              </a:rPr>
              <a:t>consultorio.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Los últimos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retiros de </a:t>
            </a:r>
            <a:r>
              <a:rPr lang="pt-BR" sz="1595">
                <a:solidFill>
                  <a:srgbClr val="595959"/>
                </a:solidFill>
              </a:rPr>
              <a:t>medicamentos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Los últimos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laboratorios realizados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13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95">
                <a:solidFill>
                  <a:srgbClr val="595959"/>
                </a:solidFill>
              </a:rPr>
              <a:t>Las últimas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imágenes realizadas.</a:t>
            </a:r>
            <a:endParaRPr sz="1595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8b2d2aecf_0_236"/>
          <p:cNvSpPr txBox="1"/>
          <p:nvPr>
            <p:ph type="ctrTitle"/>
          </p:nvPr>
        </p:nvSpPr>
        <p:spPr>
          <a:xfrm>
            <a:off x="607601" y="19764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7600"/>
              <a:t>COMO FLUIR </a:t>
            </a:r>
            <a:endParaRPr sz="7600"/>
          </a:p>
        </p:txBody>
      </p:sp>
      <p:sp>
        <p:nvSpPr>
          <p:cNvPr id="250" name="Google Shape;250;g3b8b2d2aecf_0_236"/>
          <p:cNvSpPr txBox="1"/>
          <p:nvPr/>
        </p:nvSpPr>
        <p:spPr>
          <a:xfrm>
            <a:off x="3150375" y="3273850"/>
            <a:ext cx="7107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Algunos TIPS para una mejor </a:t>
            </a: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transición</a:t>
            </a: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visual</a:t>
            </a:r>
            <a:endParaRPr b="1" sz="2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67519524a_1_5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b67519524a_1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50" y="211400"/>
            <a:ext cx="4489084" cy="197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b67519524a_1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1236" y="2390802"/>
            <a:ext cx="5482990" cy="333477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b67519524a_1_57"/>
          <p:cNvSpPr/>
          <p:nvPr/>
        </p:nvSpPr>
        <p:spPr>
          <a:xfrm>
            <a:off x="7852992" y="310172"/>
            <a:ext cx="2480700" cy="1469400"/>
          </a:xfrm>
          <a:prstGeom prst="wedgeRoundRectCallout">
            <a:avLst>
              <a:gd fmla="val -66922" name="adj1"/>
              <a:gd fmla="val 71837" name="adj2"/>
              <a:gd fmla="val 0" name="adj3"/>
            </a:avLst>
          </a:prstGeom>
          <a:solidFill>
            <a:srgbClr val="EEEEEE"/>
          </a:solidFill>
          <a:ln cap="flat" cmpd="sng" w="10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00" lIns="103600" spcFirstLastPara="1" rIns="103600" wrap="square" tIns="10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86"/>
              <a:t>Cómo</a:t>
            </a:r>
            <a:r>
              <a:rPr lang="pt-BR" sz="1586"/>
              <a:t> ir del login al Tablero de la guardia con la menor cantidad de pasos </a:t>
            </a:r>
            <a:r>
              <a:rPr lang="pt-BR" sz="1586"/>
              <a:t>posibles.</a:t>
            </a:r>
            <a:endParaRPr sz="15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6"/>
          </a:p>
        </p:txBody>
      </p:sp>
      <p:sp>
        <p:nvSpPr>
          <p:cNvPr id="259" name="Google Shape;259;g3b67519524a_1_57"/>
          <p:cNvSpPr/>
          <p:nvPr/>
        </p:nvSpPr>
        <p:spPr>
          <a:xfrm>
            <a:off x="827335" y="3421453"/>
            <a:ext cx="2480700" cy="1469400"/>
          </a:xfrm>
          <a:prstGeom prst="wedgeRoundRectCallout">
            <a:avLst>
              <a:gd fmla="val 108285" name="adj1"/>
              <a:gd fmla="val 61767" name="adj2"/>
              <a:gd fmla="val 0" name="adj3"/>
            </a:avLst>
          </a:prstGeom>
          <a:solidFill>
            <a:srgbClr val="EEEEEE"/>
          </a:solidFill>
          <a:ln cap="flat" cmpd="sng" w="10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4753" rotWithShape="0" algn="bl" dir="5400000" dist="21584">
              <a:srgbClr val="000000">
                <a:alpha val="50000"/>
              </a:srgbClr>
            </a:outerShdw>
          </a:effectLst>
        </p:spPr>
        <p:txBody>
          <a:bodyPr anchorCtr="0" anchor="ctr" bIns="103600" lIns="103600" spcFirstLastPara="1" rIns="103600" wrap="square" tIns="10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86"/>
              <a:t>Imagen representativa de un </a:t>
            </a:r>
            <a:r>
              <a:rPr lang="pt-BR" sz="1586"/>
              <a:t>tablero</a:t>
            </a:r>
            <a:r>
              <a:rPr lang="pt-BR" sz="1586"/>
              <a:t> de guardia.</a:t>
            </a:r>
            <a:endParaRPr sz="15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6"/>
          </a:p>
        </p:txBody>
      </p:sp>
      <p:sp>
        <p:nvSpPr>
          <p:cNvPr id="260" name="Google Shape;260;g3b67519524a_1_57"/>
          <p:cNvSpPr/>
          <p:nvPr/>
        </p:nvSpPr>
        <p:spPr>
          <a:xfrm>
            <a:off x="2914173" y="5039099"/>
            <a:ext cx="518700" cy="760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0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00" lIns="103600" spcFirstLastPara="1" rIns="103600" wrap="square" tIns="10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6"/>
          </a:p>
        </p:txBody>
      </p:sp>
      <p:sp>
        <p:nvSpPr>
          <p:cNvPr id="261" name="Google Shape;261;g3b67519524a_1_57"/>
          <p:cNvSpPr txBox="1"/>
          <p:nvPr/>
        </p:nvSpPr>
        <p:spPr>
          <a:xfrm>
            <a:off x="1123852" y="5187273"/>
            <a:ext cx="1617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600" lIns="103600" spcFirstLastPara="1" rIns="103600" wrap="square" tIns="10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39">
              <a:solidFill>
                <a:srgbClr val="595959"/>
              </a:solidFill>
            </a:endParaRPr>
          </a:p>
        </p:txBody>
      </p:sp>
      <p:cxnSp>
        <p:nvCxnSpPr>
          <p:cNvPr id="262" name="Google Shape;262;g3b67519524a_1_57"/>
          <p:cNvCxnSpPr>
            <a:stCxn id="256" idx="3"/>
            <a:endCxn id="257" idx="0"/>
          </p:cNvCxnSpPr>
          <p:nvPr/>
        </p:nvCxnSpPr>
        <p:spPr>
          <a:xfrm>
            <a:off x="4691235" y="1196425"/>
            <a:ext cx="2741400" cy="1194300"/>
          </a:xfrm>
          <a:prstGeom prst="bentConnector2">
            <a:avLst/>
          </a:prstGeom>
          <a:noFill/>
          <a:ln cap="flat" cmpd="sng" w="108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67519524a_1_5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b67519524a_1_51"/>
          <p:cNvSpPr txBox="1"/>
          <p:nvPr/>
        </p:nvSpPr>
        <p:spPr>
          <a:xfrm>
            <a:off x="0" y="0"/>
            <a:ext cx="106917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ANÁLISIS ANUAL DE LA GUARDIA DEL HOSPITAL HELLER AÑO 2025</a:t>
            </a:r>
            <a:endParaRPr b="1" sz="1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destacado: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13/10/2025,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se registra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en la guardia 314 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pacientes.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ENTRE azul y verde hay 185 pacientes, </a:t>
            </a:r>
            <a:endParaRPr b="1" sz="13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Más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50% es 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prioridad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baja.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9" name="Google Shape;269;g3b67519524a_1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00" y="980650"/>
            <a:ext cx="45624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b67519524a_1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175" y="2333888"/>
            <a:ext cx="5585275" cy="33581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67519524a_1_3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b67519524a_1_37"/>
          <p:cNvSpPr txBox="1"/>
          <p:nvPr/>
        </p:nvSpPr>
        <p:spPr>
          <a:xfrm>
            <a:off x="78450" y="0"/>
            <a:ext cx="10613400" cy="5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ANÁLISIS ANUAL DE LA GUARDIA DEL HOSPITAL HELLER AÑO 2025</a:t>
            </a:r>
            <a:endParaRPr b="1" sz="1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 por pacientes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09				pacientes 1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(2 del día anterior)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08				pacientes 2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médicos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(este en realidad son 10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 del día anterior)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7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07				pacientes 3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6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médico.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6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05				pacientes 1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 04					pacientes 4	1 informe,  3 modificaciones,</a:t>
            </a:r>
            <a:r>
              <a:rPr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1 médico.</a:t>
            </a:r>
            <a:endParaRPr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5 informes, 6 modificaciones, 4 médicos (este en realidad son 11 atenciones, 7 del día anterior)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3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médico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3				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19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2				pacientes 75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1				pacientes 157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Totales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informes de atenciones el día 13/10/2025 son 280 atenciones, el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resto,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34,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pertenecen al día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anterior.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			9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Media		1.651515152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			1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67519524a_1_129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g3b67519524a_1_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6335" y="3507942"/>
            <a:ext cx="2417100" cy="213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b67519524a_1_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600" y="1304293"/>
            <a:ext cx="5442382" cy="33100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b67519524a_1_129"/>
          <p:cNvCxnSpPr>
            <a:stCxn id="283" idx="3"/>
          </p:cNvCxnSpPr>
          <p:nvPr/>
        </p:nvCxnSpPr>
        <p:spPr>
          <a:xfrm>
            <a:off x="5737982" y="2959332"/>
            <a:ext cx="2475900" cy="1439400"/>
          </a:xfrm>
          <a:prstGeom prst="bentConnector3">
            <a:avLst>
              <a:gd fmla="val 50000" name="adj1"/>
            </a:avLst>
          </a:prstGeom>
          <a:noFill/>
          <a:ln cap="flat" cmpd="sng" w="10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5" name="Google Shape;285;g3b67519524a_1_1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6994" y="1033117"/>
            <a:ext cx="2136106" cy="213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g3b67519524a_1_129"/>
          <p:cNvCxnSpPr>
            <a:stCxn id="283" idx="3"/>
          </p:cNvCxnSpPr>
          <p:nvPr/>
        </p:nvCxnSpPr>
        <p:spPr>
          <a:xfrm flipH="1" rot="10800000">
            <a:off x="5737982" y="2339832"/>
            <a:ext cx="2144700" cy="619500"/>
          </a:xfrm>
          <a:prstGeom prst="bentConnector3">
            <a:avLst>
              <a:gd fmla="val 50000" name="adj1"/>
            </a:avLst>
          </a:prstGeom>
          <a:noFill/>
          <a:ln cap="flat" cmpd="sng" w="10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g3b67519524a_1_129"/>
          <p:cNvSpPr/>
          <p:nvPr/>
        </p:nvSpPr>
        <p:spPr>
          <a:xfrm>
            <a:off x="6007618" y="47950"/>
            <a:ext cx="2462400" cy="1458600"/>
          </a:xfrm>
          <a:prstGeom prst="wedgeRoundRectCallout">
            <a:avLst>
              <a:gd fmla="val -100271" name="adj1"/>
              <a:gd fmla="val 181070" name="adj2"/>
              <a:gd fmla="val 0" name="adj3"/>
            </a:avLst>
          </a:prstGeom>
          <a:solidFill>
            <a:srgbClr val="EEEEEE"/>
          </a:solidFill>
          <a:ln cap="flat" cmpd="sng" w="10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4"/>
              <a:t>Como ir del tablero a las acciones en la menor cantidad de clic</a:t>
            </a:r>
            <a:endParaRPr sz="157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4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8b2d2aecf_0_245"/>
          <p:cNvSpPr txBox="1"/>
          <p:nvPr>
            <p:ph type="ctrTitle"/>
          </p:nvPr>
        </p:nvSpPr>
        <p:spPr>
          <a:xfrm>
            <a:off x="607601" y="19764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7600"/>
              <a:t>DICCIONARIO</a:t>
            </a:r>
            <a:endParaRPr sz="7600"/>
          </a:p>
        </p:txBody>
      </p:sp>
      <p:sp>
        <p:nvSpPr>
          <p:cNvPr id="293" name="Google Shape;293;g3b8b2d2aecf_0_245"/>
          <p:cNvSpPr txBox="1"/>
          <p:nvPr/>
        </p:nvSpPr>
        <p:spPr>
          <a:xfrm>
            <a:off x="3150375" y="3273850"/>
            <a:ext cx="7107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¿Qué significan algunas cosas?</a:t>
            </a:r>
            <a:endParaRPr b="1" sz="2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67519524a_1_12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b67519524a_1_123"/>
          <p:cNvSpPr txBox="1"/>
          <p:nvPr/>
        </p:nvSpPr>
        <p:spPr>
          <a:xfrm>
            <a:off x="258775" y="0"/>
            <a:ext cx="10380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827"/>
              </a:spcBef>
              <a:spcAft>
                <a:spcPts val="975"/>
              </a:spcAft>
              <a:buSzPts val="852"/>
              <a:buNone/>
            </a:pP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DICCIONARIO DE DATOS</a:t>
            </a:r>
            <a:b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TIEMPOS DE ESPERA POR COLOR (REFERENCIA GENERAL)</a:t>
            </a:r>
            <a:endParaRPr sz="1916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sp>
        <p:nvSpPr>
          <p:cNvPr id="300" name="Google Shape;300;g3b67519524a_1_123"/>
          <p:cNvSpPr txBox="1"/>
          <p:nvPr/>
        </p:nvSpPr>
        <p:spPr>
          <a:xfrm>
            <a:off x="311700" y="1306866"/>
            <a:ext cx="103800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rmAutofit/>
          </a:bodyPr>
          <a:lstStyle/>
          <a:p>
            <a:pPr indent="-371318" lvl="0" marL="556977" rtl="0" algn="l">
              <a:lnSpc>
                <a:spcPct val="150000"/>
              </a:lnSpc>
              <a:spcBef>
                <a:spcPts val="975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🟥 Rojo (Reanimación/Emergencia vital):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Atención inmediata (0 minutos).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 Riesgo de vida, como paro cardiorrespiratorio.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🟧 Naranja (Emergencia): Atención rápida,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máximo 10-15 minutos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. Ej: Shock, fractura expuesta.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🟨 Amarillo (Urgencia moderada):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Atención en aproximadamente 30-60 minutos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. Ej: Dolor abdominal, herida sin shock.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🟢 Verde (Urgencia menor):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Espera de hasta 2 horas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. Ej: Esguince, fiebre, vómitos.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🔵 Azul (Sin urgencia): Puede esperar varias horas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(hasta 4 horas)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 o ser derivado a atención primaria. Ej: Resfrío, control rutinario. 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924"/>
              </a:spcBef>
              <a:spcAft>
                <a:spcPts val="1462"/>
              </a:spcAft>
              <a:buNone/>
            </a:pPr>
            <a:r>
              <a:t/>
            </a:r>
            <a:endParaRPr sz="2192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67519524a_1_149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b67519524a_1_149"/>
          <p:cNvSpPr txBox="1"/>
          <p:nvPr/>
        </p:nvSpPr>
        <p:spPr>
          <a:xfrm>
            <a:off x="227000" y="0"/>
            <a:ext cx="10380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DICCIONARIO DE DATOS</a:t>
            </a:r>
            <a:b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LA ESCALA DE COMA DE GLASGOW </a:t>
            </a:r>
            <a:endParaRPr sz="1916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sp>
        <p:nvSpPr>
          <p:cNvPr id="307" name="Google Shape;307;g3b67519524a_1_149"/>
          <p:cNvSpPr txBox="1"/>
          <p:nvPr/>
        </p:nvSpPr>
        <p:spPr>
          <a:xfrm>
            <a:off x="311700" y="1306866"/>
            <a:ext cx="48729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rmAutofit fontScale="25000"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827"/>
              </a:spcBef>
              <a:spcAft>
                <a:spcPts val="0"/>
              </a:spcAft>
              <a:buNone/>
            </a:pPr>
            <a:r>
              <a:rPr lang="pt-BR" sz="4081">
                <a:solidFill>
                  <a:srgbClr val="001D35"/>
                </a:solidFill>
                <a:highlight>
                  <a:srgbClr val="FFFFFF"/>
                </a:highlight>
              </a:rPr>
              <a:t>Componentes de la Escala de Glasgow</a:t>
            </a:r>
            <a:endParaRPr sz="4081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43276" lvl="0" marL="556977" rtl="0" algn="l">
              <a:lnSpc>
                <a:spcPct val="150000"/>
              </a:lnSpc>
              <a:spcBef>
                <a:spcPts val="975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pt-BR" sz="4081" u="sng">
                <a:solidFill>
                  <a:srgbClr val="0097A7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Apertura Ocular</a:t>
            </a: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 (4 puntos):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4: Espontánea.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3: Al hablar.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2: Al dolor.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1: No abre.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pt-BR" sz="4081" u="sng">
                <a:solidFill>
                  <a:srgbClr val="0097A7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Respuesta Verbal</a:t>
            </a: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 (5 puntos):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5: Orientado y coherente.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4: Desorientado (confuso).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3: Palabras inapropiadas.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2: Sonidos incomprensibles.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1: No responde.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pt-BR" sz="4081" u="sng">
                <a:solidFill>
                  <a:srgbClr val="0097A7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Respuesta Motora</a:t>
            </a: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 (6 puntos):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6: Obedece órdenes.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5: Localiza el dolor.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4: Retira ante el dolor.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3: Flexión anormal (decorticación).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2: Extensión anormal (descerebración).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1: No hay respuesta motora. 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5848"/>
              </a:spcBef>
              <a:spcAft>
                <a:spcPts val="1462"/>
              </a:spcAft>
              <a:buNone/>
            </a:pPr>
            <a:r>
              <a:t/>
            </a:r>
            <a:endParaRPr sz="1705">
              <a:solidFill>
                <a:srgbClr val="595959"/>
              </a:solidFill>
            </a:endParaRPr>
          </a:p>
        </p:txBody>
      </p:sp>
      <p:sp>
        <p:nvSpPr>
          <p:cNvPr id="308" name="Google Shape;308;g3b67519524a_1_149"/>
          <p:cNvSpPr txBox="1"/>
          <p:nvPr/>
        </p:nvSpPr>
        <p:spPr>
          <a:xfrm>
            <a:off x="5818979" y="1306866"/>
            <a:ext cx="48729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62"/>
              </a:spcAft>
              <a:buNone/>
            </a:pPr>
            <a:r>
              <a:rPr lang="pt-BR" sz="1340">
                <a:solidFill>
                  <a:srgbClr val="000000"/>
                </a:solidFill>
              </a:rPr>
              <a:t>La Escala de Coma de Glasgow (ECG) </a:t>
            </a:r>
            <a:r>
              <a:rPr lang="pt-BR" sz="1461">
                <a:solidFill>
                  <a:srgbClr val="001D35"/>
                </a:solidFill>
              </a:rPr>
              <a:t>es una herramienta esencial en el </a:t>
            </a:r>
            <a:r>
              <a:rPr i="1" lang="pt-BR" sz="1461">
                <a:solidFill>
                  <a:srgbClr val="001D35"/>
                </a:solidFill>
              </a:rPr>
              <a:t>triage</a:t>
            </a:r>
            <a:r>
              <a:rPr lang="pt-BR" sz="1461">
                <a:solidFill>
                  <a:srgbClr val="001D35"/>
                </a:solidFill>
              </a:rPr>
              <a:t> y la medicina de emergencia para evaluar el nivel de conciencia de un paciente mediante tres respuestas (ocular, verbal, motora), sumando puntos de </a:t>
            </a:r>
            <a:r>
              <a:rPr b="1" lang="pt-BR" sz="1461">
                <a:solidFill>
                  <a:srgbClr val="FF0000"/>
                </a:solidFill>
              </a:rPr>
              <a:t>3 a 15</a:t>
            </a:r>
            <a:r>
              <a:rPr lang="pt-BR" sz="1461">
                <a:solidFill>
                  <a:srgbClr val="001D35"/>
                </a:solidFill>
              </a:rPr>
              <a:t> para determinar gravedad: 13-15 (leve), 9-12 (moderado), 3-8 (grave)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, ayudando a priorizar la atención en traumatismos craneoencefálicos y otras afecciones neurológicas. </a:t>
            </a:r>
            <a:endParaRPr sz="1705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999417430_1_6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ading, Thank You, in several languages, Grazie, Tack, Bedankt, Danke Schon, Merci, Obrigado, Gracias  Color  Illustrator Ver. 5  Grouped Elements (proporcionado por Getty Images)" id="314" name="Google Shape;314;g3b999417430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8088"/>
            <a:ext cx="10691800" cy="5553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"/>
          <p:cNvSpPr txBox="1"/>
          <p:nvPr>
            <p:ph idx="11" type="ftr"/>
          </p:nvPr>
        </p:nvSpPr>
        <p:spPr>
          <a:xfrm>
            <a:off x="1749266" y="5698412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1200">
                <a:solidFill>
                  <a:srgbClr val="F4DFB9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b="1" sz="12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2024-01-05T12:39:55Z</dcterms:created>
  <dc:creator>Mariana Lombard</dc:creator>
</cp:coreProperties>
</file>