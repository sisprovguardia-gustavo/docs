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B8348DC-966B-4E70-8EEA-6AA113C6C91B}">
  <a:tblStyle styleId="{6B8348DC-966B-4E70-8EEA-6AA113C6C91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925c97b8ae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925c97b8ae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925c97b8ae_0_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925c97b8ae_0_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925c97b8ae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925c97b8ae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91e120cce6_0_5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91e120cce6_0_5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g3b324e7e25b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" name="Google Shape;75;g3b324e7e25b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b145a75d15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b145a75d15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b31f7aca4d_1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b31f7aca4d_1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b31f7aca4d_1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b31f7aca4d_1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b31f7aca4d_1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b31f7aca4d_1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b324e7e25b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b324e7e25b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3b324e7e25b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3b324e7e25b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b31f7aca4d_1_4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b31f7aca4d_1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b324e7e25b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b324e7e25b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b324e7e25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3b324e7e25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391e120cce6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3" name="Google Shape;133;g391e120cce6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91ebab88d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91ebab88d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3926724090f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3926724090f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91ece13eb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91ece13eb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b4a8c2570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b4a8c2570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b4a8c25701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b4a8c25701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3b4a8c25701_0_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3b4a8c25701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b4a8c25701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3b4a8c25701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3b4a8c25701_0_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3b4a8c25701_0_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3926724090f_0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3926724090f_0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3926724090f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3926724090f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926724090f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8" name="Google Shape;208;g3926724090f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www.google.com/search?q=Apertura+Ocular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B" TargetMode="External"/><Relationship Id="rId4" Type="http://schemas.openxmlformats.org/officeDocument/2006/relationships/hyperlink" Target="https://www.google.com/search?q=Respuesta+Verbal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H" TargetMode="External"/><Relationship Id="rId5" Type="http://schemas.openxmlformats.org/officeDocument/2006/relationships/hyperlink" Target="https://www.google.com/search?q=Respuesta+Motora&amp;oq=triage+escala+de+glassow&amp;gs_lcrp=EgZjaHJvbWUyBggAEEUYOTIKCAEQABgIGA0YHjIHCAIQABjvBTIKCAMQABiABBiiBDIKCAQQABiABBiiBDIKCAUQABiABBiiBDIKCAYQABiABBiiBNIBCDkwMTJqMGo3qAIAsAIA&amp;sourceid=chrome&amp;ie=UTF-8&amp;mstk=AUtExfBjh9j9zaxe0A0LdtLRTmNiEjGpjuPhhxuOsO6BrqHBJK7RZn2C3UXDB-OrNJF7X_RDDWvKu0SxjSP3O_Ok302C_cu5SDePBhwk3OS9YbiCri5C8cquz56xRuzThhIZBfCrSdlm_NV3Fyu_CXz3jyx3jFUyioN5xeEfsaY-oDInDTc&amp;csui=3&amp;ved=2ahUKEwj2xbHhtMeRAxWrLrkGHRC-GwIQgK4QegQIAxA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Acá</a:t>
            </a:r>
            <a:r>
              <a:rPr lang="es"/>
              <a:t> arranca todo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Sistema Provincial de Guardia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1955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</a:t>
            </a:r>
            <a:r>
              <a:rPr lang="es"/>
              <a:t> Consulta Consultorio </a:t>
            </a:r>
            <a:r>
              <a:rPr lang="es"/>
              <a:t>vs.</a:t>
            </a:r>
            <a:r>
              <a:rPr lang="es"/>
              <a:t> Guardia</a:t>
            </a:r>
            <a:endParaRPr/>
          </a:p>
        </p:txBody>
      </p:sp>
      <p:graphicFrame>
        <p:nvGraphicFramePr>
          <p:cNvPr id="61" name="Google Shape;61;p14"/>
          <p:cNvGraphicFramePr/>
          <p:nvPr/>
        </p:nvGraphicFramePr>
        <p:xfrm>
          <a:off x="75625" y="8929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{6B8348DC-966B-4E70-8EEA-6AA113C6C91B}</a:tableStyleId>
              </a:tblPr>
              <a:tblGrid>
                <a:gridCol w="2103825"/>
                <a:gridCol w="3388825"/>
                <a:gridCol w="3187250"/>
              </a:tblGrid>
              <a:tr h="4235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ASPECTO</a:t>
                      </a:r>
                      <a:endParaRPr b="1" sz="1150"/>
                    </a:p>
                  </a:txBody>
                  <a:tcPr marT="95250" marB="95250" marR="152400" marL="91425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CONSULTORIO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GUARDIA GENERAL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898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OBJETIVO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Seguimiento y control.</a:t>
                      </a:r>
                      <a:r>
                        <a:rPr lang="es" sz="1150"/>
                        <a:t> Problemas de salud </a:t>
                      </a:r>
                      <a:r>
                        <a:rPr b="1" lang="es" sz="1150"/>
                        <a:t>NO urgentes</a:t>
                      </a:r>
                      <a:r>
                        <a:rPr lang="es" sz="1150"/>
                        <a:t> O Crónicos.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Estabilizar y resolver urgencias.</a:t>
                      </a:r>
                      <a:r>
                        <a:rPr lang="es" sz="1150"/>
                        <a:t> Problemas de salud </a:t>
                      </a:r>
                      <a:r>
                        <a:rPr b="1" lang="es" sz="1150"/>
                        <a:t>AGUDOS/GRAVES</a:t>
                      </a:r>
                      <a:r>
                        <a:rPr lang="es" sz="1150"/>
                        <a:t> que no pueden esperar.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6119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CÓMO SE ENTRA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Con </a:t>
                      </a:r>
                      <a:r>
                        <a:rPr b="1" lang="es" sz="1150"/>
                        <a:t>turno previo</a:t>
                      </a:r>
                      <a:r>
                        <a:rPr lang="es" sz="1150"/>
                        <a:t> (programado). Se saca días/semanas antes.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Sin turno.</a:t>
                      </a:r>
                      <a:r>
                        <a:rPr lang="es" sz="1150"/>
                        <a:t> Llegada directa por </a:t>
                      </a:r>
                      <a:r>
                        <a:rPr b="1" lang="es" sz="1150"/>
                        <a:t>urgencia</a:t>
                      </a:r>
                      <a:r>
                        <a:rPr lang="es" sz="1150"/>
                        <a:t>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7304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PRIORIDAD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Por </a:t>
                      </a:r>
                      <a:r>
                        <a:rPr b="1" lang="es" sz="1150"/>
                        <a:t>orden de turno</a:t>
                      </a:r>
                      <a:r>
                        <a:rPr lang="es" sz="1150"/>
                        <a:t>. 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s" sz="1150"/>
                        <a:t>Por </a:t>
                      </a:r>
                      <a:r>
                        <a:rPr b="1" lang="es" sz="1150"/>
                        <a:t>gravedad (Triage)</a:t>
                      </a:r>
                      <a:r>
                        <a:rPr lang="es" sz="1150"/>
                        <a:t>. Atiende primero el más grave, no el que llegó primero.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5527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TIEMPO CON EL MÉDICO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Más tiempo.</a:t>
                      </a:r>
                      <a:r>
                        <a:rPr lang="es" sz="1150"/>
                        <a:t> Para hablar, examinar y explicar.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Poco tiempo </a:t>
                      </a:r>
                      <a:r>
                        <a:rPr lang="es" sz="1150"/>
                        <a:t>Enfocado </a:t>
                      </a:r>
                      <a:r>
                        <a:rPr lang="es" sz="1150"/>
                        <a:t>solo</a:t>
                      </a:r>
                      <a:r>
                        <a:rPr lang="es" sz="1150"/>
                        <a:t> en la urgencia.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89820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RESULTADO DE LA VISITA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Solución </a:t>
                      </a:r>
                      <a:r>
                        <a:rPr b="1" lang="es" sz="1150"/>
                        <a:t>mediana</a:t>
                      </a:r>
                      <a:r>
                        <a:rPr b="1" lang="es" sz="1150"/>
                        <a:t> a largo plazo.</a:t>
                      </a:r>
                      <a:r>
                        <a:rPr lang="es" sz="1150"/>
                        <a:t> Plan de tratamiento, receta, derivación programada a especialista.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Solución inmediata.</a:t>
                      </a:r>
                      <a:r>
                        <a:rPr lang="es" sz="1150"/>
                        <a:t> Alivio de la urgencia, observación, interacción o derivación.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11700" y="195525"/>
            <a:ext cx="8520600" cy="572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 Consulta Consultorio vs. Guardia</a:t>
            </a:r>
            <a:endParaRPr/>
          </a:p>
        </p:txBody>
      </p:sp>
      <p:graphicFrame>
        <p:nvGraphicFramePr>
          <p:cNvPr id="67" name="Google Shape;67;p15"/>
          <p:cNvGraphicFramePr/>
          <p:nvPr/>
        </p:nvGraphicFramePr>
        <p:xfrm>
          <a:off x="75625" y="7682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{6B8348DC-966B-4E70-8EEA-6AA113C6C91B}</a:tableStyleId>
              </a:tblPr>
              <a:tblGrid>
                <a:gridCol w="2103825"/>
                <a:gridCol w="3388825"/>
                <a:gridCol w="3187250"/>
              </a:tblGrid>
              <a:tr h="533400"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ASPECTO</a:t>
                      </a:r>
                      <a:endParaRPr b="1" sz="1150"/>
                    </a:p>
                  </a:txBody>
                  <a:tcPr marT="95250" marB="95250" marR="152400" marL="91425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CONSULTORIO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CONSULTA EN GUARDIA GENERAL</a:t>
                      </a:r>
                      <a:endParaRPr b="1" sz="1150"/>
                    </a:p>
                  </a:txBody>
                  <a:tcPr marT="95250" marB="95250" marR="152400" marL="152400"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QUIÉN TE ATIENDE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Tu médico de cabecera</a:t>
                      </a:r>
                      <a:r>
                        <a:rPr lang="es" sz="1150"/>
                        <a:t> (o un médico del consultorio externo). Te conoce de antes.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El médico de guardia</a:t>
                      </a:r>
                      <a:r>
                        <a:rPr lang="es" sz="1150"/>
                        <a:t> de ese día. Es la primera vez que te ve.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CONTINUIDAD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Te da seguimiento.</a:t>
                      </a:r>
                      <a:r>
                        <a:rPr lang="es" sz="1150"/>
                        <a:t> Agenda el próximo control.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No da seguimiento.</a:t>
                      </a:r>
                      <a:r>
                        <a:rPr lang="es" sz="1150"/>
                        <a:t> Te dice “vuelva a su médico” o “vaya al consultorio”.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704850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TOTAL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para conseguir el turno</a:t>
                      </a:r>
                      <a:r>
                        <a:rPr lang="es" sz="1150"/>
                        <a:t> (días/semanas). Pero el día de la consulta, entras a tu hora.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Demora en la guardia</a:t>
                      </a:r>
                      <a:r>
                        <a:rPr lang="es" sz="1150"/>
                        <a:t> (horas). Depende de cuánta gente haya y de tu gravedad (color de triage).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  <a:tr h="1480925"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CONSEJO</a:t>
                      </a:r>
                      <a:endParaRPr b="1" sz="1150"/>
                    </a:p>
                  </a:txBody>
                  <a:tcPr marT="95250" marB="95250" marR="152400" marL="91425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 la puerta de entrada correcta</a:t>
                      </a:r>
                      <a:r>
                        <a:rPr lang="es" sz="1150"/>
                        <a:t> para el cuidado de tu salud a largo plazo.</a:t>
                      </a:r>
                      <a:endParaRPr sz="1150"/>
                    </a:p>
                  </a:txBody>
                  <a:tcPr marT="95250" marB="95250" marR="152400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s" sz="1150"/>
                        <a:t>Es para emergencias.</a:t>
                      </a:r>
                      <a:r>
                        <a:rPr lang="es" sz="1150"/>
                        <a:t> Usarla para problemas no urgentes </a:t>
                      </a:r>
                      <a:r>
                        <a:rPr b="1" lang="es" sz="1150"/>
                        <a:t>satura el sistema</a:t>
                      </a:r>
                      <a:r>
                        <a:rPr lang="es" sz="1150"/>
                        <a:t> y hace esperar a los graves.</a:t>
                      </a:r>
                      <a:endParaRPr sz="1150"/>
                    </a:p>
                  </a:txBody>
                  <a:tcPr marT="95250" marB="95250" marR="91425" marL="152400">
                    <a:lnT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76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Sugerencias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Características</a:t>
            </a:r>
            <a:r>
              <a:rPr lang="es"/>
              <a:t> del SPG</a:t>
            </a:r>
            <a:endParaRPr/>
          </a:p>
        </p:txBody>
      </p:sp>
      <p:sp>
        <p:nvSpPr>
          <p:cNvPr id="78" name="Google Shape;78;p1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ÁGIL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FÁCIL E INTUITIVO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SIMPLE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SER RÁPIDO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HACER LA MENOR CANTIDAD DE CLICS Y PANTALLAS PARA LLEGAR AL PACIENTE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AGILIZAR EL PROCESO DE DERIVACIÓN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ESTAR ARTICULADO CON TODO EL ECOSISTEMA DE ANDES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s"/>
              <a:t>DAR INFORMACIÓN CONSTANTE DEL ESTADO DE LA GUARDIA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Que me </a:t>
            </a:r>
            <a:r>
              <a:rPr lang="es"/>
              <a:t>debería</a:t>
            </a:r>
            <a:r>
              <a:rPr lang="es"/>
              <a:t> permitir configurar el Sistema</a:t>
            </a:r>
            <a:endParaRPr/>
          </a:p>
        </p:txBody>
      </p:sp>
      <p:sp>
        <p:nvSpPr>
          <p:cNvPr id="84" name="Google Shape;84;p1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Colores de Triage 3 a 5,  tiempo de espera por colores y alarmas de los cambios.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Destino de los pacientes </a:t>
            </a:r>
            <a:r>
              <a:rPr lang="es"/>
              <a:t>después</a:t>
            </a:r>
            <a:r>
              <a:rPr lang="es"/>
              <a:t> de triage, en la atenci</a:t>
            </a:r>
            <a:r>
              <a:rPr lang="es"/>
              <a:t>ón </a:t>
            </a:r>
            <a:r>
              <a:rPr lang="es"/>
              <a:t>médica</a:t>
            </a:r>
            <a:r>
              <a:rPr lang="es"/>
              <a:t> y después de la misma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"/>
              <a:t>L</a:t>
            </a:r>
            <a:r>
              <a:rPr lang="es"/>
              <a:t>ugares ej.: boxes, shockroom, camas, sillas, camillas, etc. para uso de la guardia no sensables.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D</a:t>
            </a:r>
            <a:r>
              <a:rPr lang="es"/>
              <a:t>otación</a:t>
            </a:r>
            <a:r>
              <a:rPr lang="es"/>
              <a:t> de enfermeros y </a:t>
            </a:r>
            <a:r>
              <a:rPr lang="es"/>
              <a:t>médicos</a:t>
            </a:r>
            <a:r>
              <a:rPr lang="es"/>
              <a:t> por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Estudios(tipo y horario, ej. Plottier y CSP con eco) e Interconsultas (especialidades)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COMPARATIVA DE SISTEMAS</a:t>
            </a:r>
            <a:endParaRPr/>
          </a:p>
        </p:txBody>
      </p:sp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SIPS - HCR - HHH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title"/>
          </p:nvPr>
        </p:nvSpPr>
        <p:spPr>
          <a:xfrm>
            <a:off x="311700" y="854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¿</a:t>
            </a:r>
            <a:r>
              <a:rPr lang="es" sz="2688"/>
              <a:t>QUE </a:t>
            </a:r>
            <a:r>
              <a:rPr lang="es" sz="2688"/>
              <a:t>DEBERÍA</a:t>
            </a:r>
            <a:r>
              <a:rPr lang="es" sz="2688"/>
              <a:t> TENER EL TABLERO  DE LA GUARDIA?</a:t>
            </a:r>
            <a:endParaRPr sz="2688"/>
          </a:p>
        </p:txBody>
      </p:sp>
      <p:sp>
        <p:nvSpPr>
          <p:cNvPr id="96" name="Google Shape;96;p20"/>
          <p:cNvSpPr txBox="1"/>
          <p:nvPr>
            <p:ph idx="1" type="body"/>
          </p:nvPr>
        </p:nvSpPr>
        <p:spPr>
          <a:xfrm>
            <a:off x="311700" y="716575"/>
            <a:ext cx="8520600" cy="4426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70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1-) A </a:t>
            </a:r>
            <a:r>
              <a:rPr lang="es"/>
              <a:t>qué</a:t>
            </a:r>
            <a:r>
              <a:rPr lang="es"/>
              <a:t> guardia </a:t>
            </a:r>
            <a:r>
              <a:rPr lang="es"/>
              <a:t>está</a:t>
            </a:r>
            <a:r>
              <a:rPr lang="es"/>
              <a:t> anotado(general, </a:t>
            </a:r>
            <a:r>
              <a:rPr lang="es"/>
              <a:t>pediátrica</a:t>
            </a:r>
            <a:r>
              <a:rPr lang="es"/>
              <a:t>, </a:t>
            </a:r>
            <a:r>
              <a:rPr lang="es"/>
              <a:t>obstétrica</a:t>
            </a:r>
            <a:r>
              <a:rPr lang="es"/>
              <a:t>, etc.)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2-) Fecha y Hora </a:t>
            </a:r>
            <a:r>
              <a:rPr lang="es"/>
              <a:t>recepcionada</a:t>
            </a:r>
            <a:r>
              <a:rPr lang="es"/>
              <a:t> por </a:t>
            </a:r>
            <a:r>
              <a:rPr lang="es"/>
              <a:t>Admisión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ct val="61111"/>
              <a:buFont typeface="Arial"/>
              <a:buNone/>
            </a:pPr>
            <a:r>
              <a:rPr lang="es"/>
              <a:t>3</a:t>
            </a:r>
            <a:r>
              <a:rPr lang="es"/>
              <a:t>-) DNI, EDAD y Apellido y Nombre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3-) Color de Triage (default blanco los que esperan ser atendidos en consultorio de Triage)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Motivo consulta (si fue realizado el triage).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4-) Presente o </a:t>
            </a:r>
            <a:r>
              <a:rPr lang="es"/>
              <a:t>Ausente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5-) </a:t>
            </a:r>
            <a:r>
              <a:rPr lang="es"/>
              <a:t>Ubicación</a:t>
            </a:r>
            <a:r>
              <a:rPr lang="es"/>
              <a:t> del Paciente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6) Laboratorios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7-) Estudios de </a:t>
            </a:r>
            <a:r>
              <a:rPr lang="es"/>
              <a:t>Imágenes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8-) Camillero (es cuando el profesional o enfermero solicitan trasladar al paciente).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9-) saber a cada momento </a:t>
            </a:r>
            <a:r>
              <a:rPr lang="es"/>
              <a:t>quién</a:t>
            </a:r>
            <a:r>
              <a:rPr lang="es"/>
              <a:t> lo </a:t>
            </a:r>
            <a:r>
              <a:rPr lang="es"/>
              <a:t>está</a:t>
            </a:r>
            <a:r>
              <a:rPr lang="es"/>
              <a:t> atendiendo y el lugar dentro de la guardia.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10-) Mostrar el destino del paciente si finalizo su proceso de </a:t>
            </a:r>
            <a:r>
              <a:rPr lang="es"/>
              <a:t>atención </a:t>
            </a:r>
            <a:r>
              <a:rPr lang="es"/>
              <a:t>(Alta </a:t>
            </a:r>
            <a:r>
              <a:rPr lang="es"/>
              <a:t>Enfermería</a:t>
            </a:r>
            <a:r>
              <a:rPr lang="es"/>
              <a:t>, Alta </a:t>
            </a:r>
            <a:r>
              <a:rPr lang="es"/>
              <a:t>Médica</a:t>
            </a:r>
            <a:r>
              <a:rPr lang="es"/>
              <a:t>, Alta Voluntaria,  </a:t>
            </a:r>
            <a:r>
              <a:rPr lang="es"/>
              <a:t>Derivación</a:t>
            </a:r>
            <a:r>
              <a:rPr lang="es"/>
              <a:t>, </a:t>
            </a:r>
            <a:r>
              <a:rPr lang="es"/>
              <a:t>Defunción</a:t>
            </a:r>
            <a:r>
              <a:rPr lang="es"/>
              <a:t>, </a:t>
            </a:r>
            <a:r>
              <a:rPr lang="es"/>
              <a:t>Fuga, </a:t>
            </a:r>
            <a:r>
              <a:rPr lang="es"/>
              <a:t>internación</a:t>
            </a:r>
            <a:r>
              <a:rPr lang="es"/>
              <a:t>).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title"/>
          </p:nvPr>
        </p:nvSpPr>
        <p:spPr>
          <a:xfrm>
            <a:off x="311700" y="7450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TABLERO  - HELLER</a:t>
            </a:r>
            <a:endParaRPr/>
          </a:p>
        </p:txBody>
      </p:sp>
      <p:pic>
        <p:nvPicPr>
          <p:cNvPr id="102" name="Google Shape;10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2525" y="853925"/>
            <a:ext cx="7052850" cy="4289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31438" y="185250"/>
            <a:ext cx="5316974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32475" y="87025"/>
            <a:ext cx="4838701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150" y="1268450"/>
            <a:ext cx="8644875" cy="3737725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4"/>
          <p:cNvSpPr txBox="1"/>
          <p:nvPr>
            <p:ph type="title"/>
          </p:nvPr>
        </p:nvSpPr>
        <p:spPr>
          <a:xfrm>
            <a:off x="311700" y="74500"/>
            <a:ext cx="852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ADMISION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150" y="1268450"/>
            <a:ext cx="8815874" cy="362157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5"/>
          <p:cNvSpPr txBox="1"/>
          <p:nvPr>
            <p:ph type="title"/>
          </p:nvPr>
        </p:nvSpPr>
        <p:spPr>
          <a:xfrm>
            <a:off x="311700" y="74500"/>
            <a:ext cx="852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ENFERMERO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26"/>
          <p:cNvPicPr preferRelativeResize="0"/>
          <p:nvPr/>
        </p:nvPicPr>
        <p:blipFill rotWithShape="1">
          <a:blip r:embed="rId3">
            <a:alphaModFix/>
          </a:blip>
          <a:srcRect b="15511" l="6114" r="7894" t="11666"/>
          <a:stretch/>
        </p:blipFill>
        <p:spPr>
          <a:xfrm>
            <a:off x="76125" y="1290225"/>
            <a:ext cx="8894500" cy="373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6"/>
          <p:cNvSpPr txBox="1"/>
          <p:nvPr>
            <p:ph type="title"/>
          </p:nvPr>
        </p:nvSpPr>
        <p:spPr>
          <a:xfrm>
            <a:off x="76125" y="74500"/>
            <a:ext cx="8970600" cy="99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ESTILO DE DASHBOARD  -SIPS / HCR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MÉDICO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7"/>
          <p:cNvSpPr txBox="1"/>
          <p:nvPr>
            <p:ph type="title"/>
          </p:nvPr>
        </p:nvSpPr>
        <p:spPr>
          <a:xfrm>
            <a:off x="311700" y="227250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Módulos</a:t>
            </a:r>
            <a:r>
              <a:rPr lang="es"/>
              <a:t> que debe contemplar el sistema</a:t>
            </a:r>
            <a:endParaRPr/>
          </a:p>
        </p:txBody>
      </p:sp>
      <p:sp>
        <p:nvSpPr>
          <p:cNvPr id="136" name="Google Shape;136;p27"/>
          <p:cNvSpPr txBox="1"/>
          <p:nvPr>
            <p:ph idx="1" type="body"/>
          </p:nvPr>
        </p:nvSpPr>
        <p:spPr>
          <a:xfrm>
            <a:off x="311700" y="1152475"/>
            <a:ext cx="32538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ADMISIÓN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Recepción de Pacientes</a:t>
            </a:r>
            <a:endParaRPr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ENFERMERÍA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Triage de Enfermería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Prescripciones Médicas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Evoluciones sin indicaciones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 médica</a:t>
            </a:r>
            <a:r>
              <a:rPr lang="es">
                <a:solidFill>
                  <a:schemeClr val="dk1"/>
                </a:solidFill>
              </a:rPr>
              <a:t>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37" name="Google Shape;137;p27"/>
          <p:cNvSpPr txBox="1"/>
          <p:nvPr>
            <p:ph idx="2" type="body"/>
          </p:nvPr>
        </p:nvSpPr>
        <p:spPr>
          <a:xfrm>
            <a:off x="2987975" y="1017725"/>
            <a:ext cx="2950500" cy="3966600"/>
          </a:xfrm>
          <a:prstGeom prst="rect">
            <a:avLst/>
          </a:prstGeom>
          <a:effectLst>
            <a:reflection blurRad="0" dir="5400000" dist="38100" endA="0" fadeDir="5400012" kx="0" rotWithShape="0" algn="bl" stPos="0" sy="-100000" ky="0"/>
          </a:effectLst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MÉDICOS</a:t>
            </a:r>
            <a:endParaRPr b="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Módulo</a:t>
            </a:r>
            <a:r>
              <a:rPr lang="es">
                <a:solidFill>
                  <a:schemeClr val="dk1"/>
                </a:solidFill>
              </a:rPr>
              <a:t> de </a:t>
            </a:r>
            <a:r>
              <a:rPr lang="es">
                <a:solidFill>
                  <a:schemeClr val="dk1"/>
                </a:solidFill>
              </a:rPr>
              <a:t>Atención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Prescripciones a </a:t>
            </a:r>
            <a:r>
              <a:rPr lang="es">
                <a:solidFill>
                  <a:schemeClr val="dk1"/>
                </a:solidFill>
              </a:rPr>
              <a:t>Enfermería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Derivación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Solicitudes de Estudios </a:t>
            </a:r>
            <a:r>
              <a:rPr lang="es">
                <a:solidFill>
                  <a:schemeClr val="dk1"/>
                </a:solidFill>
              </a:rPr>
              <a:t>parametrizables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Solicitud de laboratorios parametrizables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Interconsultas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1"/>
                </a:solidFill>
              </a:rPr>
              <a:t>C</a:t>
            </a:r>
            <a:r>
              <a:rPr lang="es">
                <a:solidFill>
                  <a:schemeClr val="dk1"/>
                </a:solidFill>
              </a:rPr>
              <a:t>ertificado de defunción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138" name="Google Shape;138;p27"/>
          <p:cNvSpPr txBox="1"/>
          <p:nvPr>
            <p:ph idx="2" type="body"/>
          </p:nvPr>
        </p:nvSpPr>
        <p:spPr>
          <a:xfrm>
            <a:off x="6115300" y="1017725"/>
            <a:ext cx="2950500" cy="3966600"/>
          </a:xfrm>
          <a:prstGeom prst="rect">
            <a:avLst/>
          </a:prstGeom>
          <a:effectLst>
            <a:reflection blurRad="0" dir="5400000" dist="38100" endA="0" fadeDir="5400012" kx="0" rotWithShape="0" algn="bl" stPos="0" sy="-100000" ky="0"/>
          </a:effectLst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s">
                <a:solidFill>
                  <a:srgbClr val="FF0000"/>
                </a:solidFill>
              </a:rPr>
              <a:t>MÉDICOS</a:t>
            </a:r>
            <a:endParaRPr b="1">
              <a:solidFill>
                <a:srgbClr val="FF0000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Receta Electrónica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Retiro Voluntario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Certificado Policial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Notas sin necesidad de diagnóstico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>
                <a:solidFill>
                  <a:schemeClr val="dk1"/>
                </a:solidFill>
              </a:rPr>
              <a:t>Fuga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>
                <a:solidFill>
                  <a:schemeClr val="dk1"/>
                </a:solidFill>
              </a:rPr>
              <a:t>certificados de atención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8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</a:t>
            </a:r>
            <a:r>
              <a:rPr lang="es"/>
              <a:t>debería</a:t>
            </a:r>
            <a:r>
              <a:rPr lang="es"/>
              <a:t> tener el Formulario Admisi</a:t>
            </a:r>
            <a:r>
              <a:rPr lang="es"/>
              <a:t>ón</a:t>
            </a:r>
            <a:endParaRPr/>
          </a:p>
        </p:txBody>
      </p:sp>
      <p:sp>
        <p:nvSpPr>
          <p:cNvPr id="144" name="Google Shape;144;p28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DNI</a:t>
            </a:r>
            <a:r>
              <a:rPr lang="es"/>
              <a:t>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Apellido y Nombre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Motivo Consulta</a:t>
            </a:r>
            <a:r>
              <a:rPr lang="es"/>
              <a:t> 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Tipo de Guardia a la que acude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Elegir el lugar donde está el paciente</a:t>
            </a:r>
            <a:endParaRPr b="1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b="1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29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debería tener el Formulario de Triage</a:t>
            </a:r>
            <a:endParaRPr/>
          </a:p>
        </p:txBody>
      </p:sp>
      <p:sp>
        <p:nvSpPr>
          <p:cNvPr id="150" name="Google Shape;150;p29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Motivo de Consulta</a:t>
            </a:r>
            <a:r>
              <a:rPr lang="es"/>
              <a:t> → texto libre según lo expresa el paciente.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Diagnóstico </a:t>
            </a:r>
            <a:r>
              <a:rPr lang="es"/>
              <a:t>→ </a:t>
            </a:r>
            <a:r>
              <a:rPr lang="es" sz="1200">
                <a:highlight>
                  <a:srgbClr val="FFFFFF"/>
                </a:highlight>
              </a:rPr>
              <a:t>NANDA-I (North American Nursing Diagnosis Association International</a:t>
            </a:r>
            <a:r>
              <a:rPr lang="es"/>
              <a:t> / </a:t>
            </a:r>
            <a:r>
              <a:rPr lang="es" sz="1200">
                <a:highlight>
                  <a:srgbClr val="FFFFFF"/>
                </a:highlight>
              </a:rPr>
              <a:t>SNOMED CT /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Signos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TA Min</a:t>
            </a:r>
            <a:r>
              <a:rPr lang="es"/>
              <a:t> —&gt; Número entero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TA Max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Los valores se dan como Sistólica/Diastólica (ej: 120/80).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Frecuencia Cardiaca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Saturación Oxígeno </a:t>
            </a:r>
            <a:r>
              <a:rPr lang="es"/>
              <a:t>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Frecuencia Respiratoria</a:t>
            </a:r>
            <a:r>
              <a:rPr lang="es"/>
              <a:t> 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 </a:t>
            </a:r>
            <a:r>
              <a:rPr b="1" lang="es"/>
              <a:t>Nivel de Insulina Hemoglucotest </a:t>
            </a:r>
            <a:r>
              <a:rPr lang="es"/>
              <a:t>→ Número entero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Factores</a:t>
            </a:r>
            <a:r>
              <a:rPr b="1" lang="es" sz="1200">
                <a:solidFill>
                  <a:srgbClr val="0A0A0A"/>
                </a:solidFill>
                <a:highlight>
                  <a:srgbClr val="FFFFFF"/>
                </a:highlight>
              </a:rPr>
              <a:t> d</a:t>
            </a:r>
            <a:r>
              <a:rPr b="1" lang="es"/>
              <a:t>e Riesgo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 → texto libre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 sz="1200">
                <a:solidFill>
                  <a:srgbClr val="0A0A0A"/>
                </a:solidFill>
                <a:highlight>
                  <a:srgbClr val="FFFFFF"/>
                </a:highlight>
              </a:rPr>
              <a:t>Solicitar TTO de Enfermería</a:t>
            </a:r>
            <a:endParaRPr b="1"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  <p:sp>
        <p:nvSpPr>
          <p:cNvPr id="151" name="Google Shape;151;p29"/>
          <p:cNvSpPr txBox="1"/>
          <p:nvPr>
            <p:ph idx="2" type="body"/>
          </p:nvPr>
        </p:nvSpPr>
        <p:spPr>
          <a:xfrm>
            <a:off x="4876000" y="701775"/>
            <a:ext cx="3999900" cy="439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Escala Glasgow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gravedad: 13-15 (leve), 9-12 (moderado), 3-8 (grave) puede cambiar la clasificación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Peso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Número con decimal? →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Sensorio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Sibilancia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solidFill>
                  <a:srgbClr val="001D35"/>
                </a:solidFill>
                <a:highlight>
                  <a:srgbClr val="FFFFFF"/>
                </a:highlight>
              </a:rPr>
              <a:t>Pupilas </a:t>
            </a:r>
            <a:r>
              <a:rPr lang="es" sz="1200">
                <a:solidFill>
                  <a:srgbClr val="001D35"/>
                </a:solidFill>
                <a:highlight>
                  <a:srgbClr val="FFFFFF"/>
                </a:highlight>
              </a:rPr>
              <a:t>→ ? SIPS</a:t>
            </a:r>
            <a:endParaRPr sz="120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Electro Cardiograma</a:t>
            </a:r>
            <a:r>
              <a:rPr lang="es"/>
              <a:t> → S/N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Evolución </a:t>
            </a:r>
            <a:r>
              <a:rPr lang="es"/>
              <a:t>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Clasificación </a:t>
            </a:r>
            <a:r>
              <a:rPr lang="es"/>
              <a:t>→ Color de Triage (Rojo, Naranja, Amarillo, Verde y Azul) según la institución.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s"/>
              <a:t>Ubicación</a:t>
            </a:r>
            <a:r>
              <a:rPr lang="es"/>
              <a:t>: Lugar donde queda el paciente una vez finalizado el Triage, según la institución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0"/>
          <p:cNvSpPr txBox="1"/>
          <p:nvPr>
            <p:ph type="title"/>
          </p:nvPr>
        </p:nvSpPr>
        <p:spPr>
          <a:xfrm>
            <a:off x="311700" y="854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Datos que debería tener el Formulario Atención </a:t>
            </a:r>
            <a:r>
              <a:rPr lang="es"/>
              <a:t>Médica</a:t>
            </a:r>
            <a:endParaRPr/>
          </a:p>
        </p:txBody>
      </p:sp>
      <p:sp>
        <p:nvSpPr>
          <p:cNvPr id="157" name="Google Shape;157;p30"/>
          <p:cNvSpPr txBox="1"/>
          <p:nvPr>
            <p:ph idx="1" type="body"/>
          </p:nvPr>
        </p:nvSpPr>
        <p:spPr>
          <a:xfrm>
            <a:off x="311700" y="745375"/>
            <a:ext cx="3999900" cy="42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/>
              <a:t>Motivo de Consulta</a:t>
            </a:r>
            <a:r>
              <a:rPr lang="es"/>
              <a:t> → texto libre según lo expresa el paciente. </a:t>
            </a:r>
            <a:r>
              <a:rPr lang="es"/>
              <a:t>Tomar</a:t>
            </a:r>
            <a:r>
              <a:rPr lang="es"/>
              <a:t> del triage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Diagnóstico Presuntivo </a:t>
            </a:r>
            <a:r>
              <a:rPr lang="es"/>
              <a:t>→ </a:t>
            </a:r>
            <a:r>
              <a:rPr lang="es" sz="1200">
                <a:highlight>
                  <a:srgbClr val="FFFFFF"/>
                </a:highlight>
              </a:rPr>
              <a:t>CIE10</a:t>
            </a:r>
            <a:r>
              <a:rPr lang="es"/>
              <a:t> / </a:t>
            </a:r>
            <a:r>
              <a:rPr lang="es" sz="1200">
                <a:highlight>
                  <a:srgbClr val="FFFFFF"/>
                </a:highlight>
              </a:rPr>
              <a:t>SNOMED CT / texto libre</a:t>
            </a:r>
            <a:endParaRPr sz="1200"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 sz="1200">
                <a:highlight>
                  <a:srgbClr val="FFFFFF"/>
                </a:highlight>
              </a:rPr>
              <a:t>Diagnóstico</a:t>
            </a:r>
            <a:r>
              <a:rPr b="1" lang="es" sz="1200">
                <a:highlight>
                  <a:srgbClr val="FFFFFF"/>
                </a:highlight>
              </a:rPr>
              <a:t> </a:t>
            </a:r>
            <a:r>
              <a:rPr b="1" lang="es" sz="1200">
                <a:highlight>
                  <a:srgbClr val="FFFFFF"/>
                </a:highlight>
              </a:rPr>
              <a:t>Principal</a:t>
            </a:r>
            <a:r>
              <a:rPr b="1" lang="es" sz="1200">
                <a:highlight>
                  <a:srgbClr val="FFFFFF"/>
                </a:highlight>
              </a:rPr>
              <a:t> </a:t>
            </a:r>
            <a:r>
              <a:rPr lang="es" sz="1200">
                <a:highlight>
                  <a:srgbClr val="FFFFFF"/>
                </a:highlight>
              </a:rPr>
              <a:t>→ </a:t>
            </a:r>
            <a:r>
              <a:rPr lang="es" sz="1200">
                <a:highlight>
                  <a:schemeClr val="lt1"/>
                </a:highlight>
              </a:rPr>
              <a:t>CIE10</a:t>
            </a:r>
            <a:r>
              <a:rPr lang="es"/>
              <a:t> / </a:t>
            </a:r>
            <a:r>
              <a:rPr lang="es" sz="1200">
                <a:highlight>
                  <a:schemeClr val="lt1"/>
                </a:highlight>
              </a:rPr>
              <a:t>SNOMED obligatorio</a:t>
            </a:r>
            <a:endParaRPr sz="1200"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Evolución </a:t>
            </a:r>
            <a:r>
              <a:rPr lang="es"/>
              <a:t>→ texto libre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 Interconsulta</a:t>
            </a:r>
            <a:r>
              <a:rPr lang="es"/>
              <a:t> → seleccionar especialidad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Solicitar</a:t>
            </a:r>
            <a:r>
              <a:rPr b="1" lang="es"/>
              <a:t> estudios</a:t>
            </a:r>
            <a:r>
              <a:rPr lang="es"/>
              <a:t> → agregar uno o varios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Solicitar TTO </a:t>
            </a:r>
            <a:r>
              <a:rPr lang="es"/>
              <a:t>a </a:t>
            </a:r>
            <a:r>
              <a:rPr lang="es"/>
              <a:t>Enfermería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s"/>
              <a:t>Prescripción de Medicamento → </a:t>
            </a:r>
            <a:r>
              <a:rPr lang="es"/>
              <a:t>Receta </a:t>
            </a:r>
            <a:r>
              <a:rPr lang="es"/>
              <a:t>Electrónica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¿Primera Vez que se atiende por esa patología en guardia? Si / No HCR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Presenta Carnet de Vacunas al dia SI/NO HCR 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</p:txBody>
      </p:sp>
      <p:sp>
        <p:nvSpPr>
          <p:cNvPr id="158" name="Google Shape;158;p30"/>
          <p:cNvSpPr txBox="1"/>
          <p:nvPr>
            <p:ph idx="2" type="body"/>
          </p:nvPr>
        </p:nvSpPr>
        <p:spPr>
          <a:xfrm>
            <a:off x="4876000" y="701775"/>
            <a:ext cx="3999900" cy="439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Poder ver 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los N Triage de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Las últimas </a:t>
            </a:r>
            <a:r>
              <a:rPr b="1" lang="es"/>
              <a:t>N</a:t>
            </a:r>
            <a:r>
              <a:rPr b="1" lang="es"/>
              <a:t> </a:t>
            </a:r>
            <a:r>
              <a:rPr lang="es"/>
              <a:t>anteriores</a:t>
            </a:r>
            <a:r>
              <a:rPr lang="es"/>
              <a:t> en guardia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Las </a:t>
            </a:r>
            <a:r>
              <a:rPr lang="es"/>
              <a:t>últimas</a:t>
            </a:r>
            <a:r>
              <a:rPr lang="es"/>
              <a:t> </a:t>
            </a:r>
            <a:r>
              <a:rPr b="1" lang="es"/>
              <a:t>N </a:t>
            </a:r>
            <a:r>
              <a:rPr lang="es"/>
              <a:t>atenciones en Consultorio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s"/>
              <a:t>Los </a:t>
            </a:r>
            <a:r>
              <a:rPr lang="es"/>
              <a:t>últimos </a:t>
            </a:r>
            <a:r>
              <a:rPr b="1" lang="es"/>
              <a:t>N</a:t>
            </a:r>
            <a:r>
              <a:rPr b="1" lang="es"/>
              <a:t> </a:t>
            </a:r>
            <a:r>
              <a:rPr lang="es"/>
              <a:t>retiros de Medicamentos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s"/>
              <a:t>Los últimos</a:t>
            </a:r>
            <a:r>
              <a:rPr lang="es"/>
              <a:t> </a:t>
            </a:r>
            <a:r>
              <a:rPr b="1" lang="es"/>
              <a:t>N </a:t>
            </a:r>
            <a:r>
              <a:rPr lang="es"/>
              <a:t>laboratorios realizados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Interfaz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8" name="Google Shape;168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2150" y="211401"/>
            <a:ext cx="3961974" cy="1738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64125" y="2134894"/>
            <a:ext cx="4839175" cy="2943206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32"/>
          <p:cNvSpPr/>
          <p:nvPr/>
        </p:nvSpPr>
        <p:spPr>
          <a:xfrm>
            <a:off x="6954625" y="298575"/>
            <a:ext cx="2189400" cy="1296900"/>
          </a:xfrm>
          <a:prstGeom prst="wedgeRoundRectCallout">
            <a:avLst>
              <a:gd fmla="val -66922" name="adj1"/>
              <a:gd fmla="val 71837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Como ir del login al Tablero de la </a:t>
            </a:r>
            <a:r>
              <a:rPr lang="es"/>
              <a:t>guardia</a:t>
            </a:r>
            <a:r>
              <a:rPr lang="es"/>
              <a:t> con la menor cantidad de pasos posibles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32"/>
          <p:cNvSpPr/>
          <p:nvPr/>
        </p:nvSpPr>
        <p:spPr>
          <a:xfrm>
            <a:off x="753925" y="3044525"/>
            <a:ext cx="2189400" cy="1296900"/>
          </a:xfrm>
          <a:prstGeom prst="wedgeRoundRectCallout">
            <a:avLst>
              <a:gd fmla="val 108285" name="adj1"/>
              <a:gd fmla="val 61767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  <a:effectLst>
            <a:outerShdw blurRad="57150" rotWithShape="0" algn="bl" dir="5400000" dist="19050">
              <a:srgbClr val="000000">
                <a:alpha val="50000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Imagen representativa de un Tablero de guardia.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32"/>
          <p:cNvSpPr/>
          <p:nvPr/>
        </p:nvSpPr>
        <p:spPr>
          <a:xfrm>
            <a:off x="2595725" y="4472225"/>
            <a:ext cx="457800" cy="671400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p32"/>
          <p:cNvSpPr txBox="1"/>
          <p:nvPr/>
        </p:nvSpPr>
        <p:spPr>
          <a:xfrm>
            <a:off x="1015625" y="4603000"/>
            <a:ext cx="1427400" cy="21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74" name="Google Shape;174;p32"/>
          <p:cNvCxnSpPr>
            <a:stCxn id="168" idx="3"/>
            <a:endCxn id="169" idx="0"/>
          </p:cNvCxnSpPr>
          <p:nvPr/>
        </p:nvCxnSpPr>
        <p:spPr>
          <a:xfrm>
            <a:off x="4164124" y="1080764"/>
            <a:ext cx="2419500" cy="1054200"/>
          </a:xfrm>
          <a:prstGeom prst="bentConnector2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3"/>
          <p:cNvSpPr txBox="1"/>
          <p:nvPr/>
        </p:nvSpPr>
        <p:spPr>
          <a:xfrm>
            <a:off x="0" y="0"/>
            <a:ext cx="9144000" cy="503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cantidad de pacientes por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todo un año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dia destacado 20251013 314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pacientes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registrados en la guardia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Análisis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del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20251013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/*listado de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pacientes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registrado ese dia*/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* FROM gua_monitor WHERE fecha = '20251013'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cantidad de pacientes 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count(pres) as cant, pres  FROM gua_monitor  WHERE fecha = '20251013' GROUP BY pres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ausente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43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Observación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/ espera		10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atendidos				261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/* cantidad de triage */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SELECT * FROM gua_mov_enf WHERE fecha BETWEEN '2025-10-13 00:00:00' AND '2025-10-13 23:59:00'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cantidad de triage 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verde		176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azul	  	009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amarillo 	080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naranja   	005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rojo	 	044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total		314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ENTRE azul y verde hay 185 pacientes, mas 50% es prioridades baja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4"/>
          <p:cNvSpPr txBox="1"/>
          <p:nvPr/>
        </p:nvSpPr>
        <p:spPr>
          <a:xfrm>
            <a:off x="78450" y="0"/>
            <a:ext cx="90654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por pacientes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09				pacientes 1		2 informes 5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modificaciones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 (2 del día anterior)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08				pacientes 2		2 informes 5 modificaciones </a:t>
            </a: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5 </a:t>
            </a: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(este en realidad son 10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3 del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anterior)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informes 7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07				pacientes 3		1 informe  6 modificaciones 1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  6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2 informes 5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05				pacientes 1		2 informes 3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rgbClr val="FF0000"/>
                </a:solidFill>
                <a:highlight>
                  <a:schemeClr val="lt1"/>
                </a:highlight>
                <a:latin typeface="Courier New"/>
                <a:ea typeface="Courier New"/>
                <a:cs typeface="Courier New"/>
                <a:sym typeface="Courier New"/>
              </a:rPr>
              <a:t>atenciones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04				pacientes 4		1 informe  3 modificaciones	1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5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informes,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6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modificaciones,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4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(este en realidad son 11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atenciones,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7 del 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anterior)</a:t>
            </a:r>
            <a:endParaRPr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1 informe  3 modificaciones 1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							2 informes 2 modificaciones 2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médicos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—-------------------------------------------------------------------------------------------------------------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3				pacientes 19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2				pacientes 75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	1				pacientes 157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totales informes de atenciones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13/10/2025 son 280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atenciones,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el resto 34 pertenecen al 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día</a:t>
            </a: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anterior 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Max			9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s" sz="1050">
                <a:solidFill>
                  <a:srgbClr val="FF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Media		1.651515152</a:t>
            </a:r>
            <a:endParaRPr b="1" sz="1050">
              <a:solidFill>
                <a:srgbClr val="FF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" sz="1050">
                <a:solidFill>
                  <a:schemeClr val="dk1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min			1</a:t>
            </a:r>
            <a:endParaRPr sz="1050">
              <a:solidFill>
                <a:schemeClr val="dk1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769373" y="3124450"/>
            <a:ext cx="2149200" cy="1899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0" name="Google Shape;190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00" y="1165044"/>
            <a:ext cx="4839175" cy="294320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1" name="Google Shape;191;p35"/>
          <p:cNvCxnSpPr>
            <a:stCxn id="190" idx="3"/>
          </p:cNvCxnSpPr>
          <p:nvPr/>
        </p:nvCxnSpPr>
        <p:spPr>
          <a:xfrm>
            <a:off x="5134775" y="2636647"/>
            <a:ext cx="2201400" cy="12798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pic>
        <p:nvPicPr>
          <p:cNvPr id="192" name="Google Shape;192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152300" y="923925"/>
            <a:ext cx="1899350" cy="18993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93" name="Google Shape;193;p35"/>
          <p:cNvCxnSpPr>
            <a:stCxn id="190" idx="3"/>
          </p:cNvCxnSpPr>
          <p:nvPr/>
        </p:nvCxnSpPr>
        <p:spPr>
          <a:xfrm flipH="1" rot="10800000">
            <a:off x="5134775" y="2085847"/>
            <a:ext cx="1907100" cy="550800"/>
          </a:xfrm>
          <a:prstGeom prst="bentConnector3">
            <a:avLst>
              <a:gd fmla="val 55997" name="adj1"/>
            </a:avLst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94" name="Google Shape;194;p35"/>
          <p:cNvSpPr/>
          <p:nvPr/>
        </p:nvSpPr>
        <p:spPr>
          <a:xfrm>
            <a:off x="5374525" y="47950"/>
            <a:ext cx="2189400" cy="1296900"/>
          </a:xfrm>
          <a:prstGeom prst="wedgeRoundRectCallout">
            <a:avLst>
              <a:gd fmla="val -100271" name="adj1"/>
              <a:gd fmla="val 181070" name="adj2"/>
              <a:gd fmla="val 0" name="adj3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Como ir del tablero a las acciones en la menor cantidad de clic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9900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Definiciones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lnSpc>
                <a:spcPct val="140000"/>
              </a:lnSpc>
              <a:spcBef>
                <a:spcPts val="1500"/>
              </a:spcBef>
              <a:spcAft>
                <a:spcPts val="800"/>
              </a:spcAft>
              <a:buNone/>
            </a:pPr>
            <a:r>
              <a:rPr lang="es" sz="1500">
                <a:solidFill>
                  <a:srgbClr val="001D35"/>
                </a:solidFill>
                <a:highlight>
                  <a:srgbClr val="FFFFFF"/>
                </a:highlight>
              </a:rPr>
              <a:t>Tiempos de espera por color (referencia general)</a:t>
            </a:r>
            <a:endParaRPr/>
          </a:p>
        </p:txBody>
      </p:sp>
      <p:sp>
        <p:nvSpPr>
          <p:cNvPr id="205" name="Google Shape;205;p3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048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🟥 Rojo (Reanimación/Emergencia vital): Atención inmediata (0 minutos). Riesgo de vida, como paro cardiorrespiratorio.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🟧 Naranja (Emergencia): Atención rápida, máximo 10-15 minutos. Ej: Shock, fractura expuesta.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🟨 Amarillo (Urgencia moderada): Atención en aproximadamente 30-60 minutos. Ej: Dolor abdominal, herida sin shock.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🟢 Verde (Urgencia menor): Espera de hasta 2 horas. Ej: Esguince, fiebre, vómitos.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3048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ts val="1200"/>
              <a:buChar char="●"/>
            </a:pP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🔵 Azul (Sin urgencia): Puede esperar varias horas (hasta 4 horas) o ser derivado a atención primaria. Ej: Resfrío, control rutinario. </a:t>
            </a:r>
            <a:endParaRPr sz="120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24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s"/>
              <a:t>La Escala de Coma de Glasgow </a:t>
            </a:r>
            <a:endParaRPr/>
          </a:p>
        </p:txBody>
      </p:sp>
      <p:sp>
        <p:nvSpPr>
          <p:cNvPr id="211" name="Google Shape;211;p38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lnSpc>
                <a:spcPct val="140000"/>
              </a:lnSpc>
              <a:spcBef>
                <a:spcPts val="1500"/>
              </a:spcBef>
              <a:spcAft>
                <a:spcPts val="0"/>
              </a:spcAft>
              <a:buClr>
                <a:schemeClr val="dk1"/>
              </a:buClr>
              <a:buSzPct val="32835"/>
              <a:buFont typeface="Arial"/>
              <a:buNone/>
            </a:pPr>
            <a:r>
              <a:rPr lang="es" sz="3350">
                <a:solidFill>
                  <a:srgbClr val="001D35"/>
                </a:solidFill>
                <a:highlight>
                  <a:srgbClr val="FFFFFF"/>
                </a:highlight>
              </a:rPr>
              <a:t>Componentes de la Escala de Glasgow</a:t>
            </a:r>
            <a:endParaRPr sz="3350">
              <a:solidFill>
                <a:srgbClr val="001D35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3"/>
              </a:rPr>
              <a:t>Apertura Ocular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(4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Espontánea.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Al hablar.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Al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abre.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4"/>
              </a:rPr>
              <a:t>Respuesta Verbal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(5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5: Orientado y coherente.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Desorientado (confuso).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Palabras inapropiadas.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Sonidos incomprensibles.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responde.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●"/>
            </a:pPr>
            <a:r>
              <a:rPr lang="es" sz="3350" u="sng">
                <a:solidFill>
                  <a:schemeClr val="hlink"/>
                </a:solidFill>
                <a:highlight>
                  <a:srgbClr val="FFFFFF"/>
                </a:highlight>
                <a:hlinkClick r:id="rId5"/>
              </a:rPr>
              <a:t>Respuesta Motora</a:t>
            </a: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 (6 puntos):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6: Obedece órdenes.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5: Localiza el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4: Retira ante el dolor.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3: Flexión anormal (decorticación).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2: Extensión anormal (descerebración).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-281781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A0A0A"/>
              </a:buClr>
              <a:buSzPct val="100000"/>
              <a:buChar char="○"/>
            </a:pPr>
            <a:r>
              <a:rPr lang="es" sz="3350">
                <a:solidFill>
                  <a:srgbClr val="0A0A0A"/>
                </a:solidFill>
                <a:highlight>
                  <a:srgbClr val="FFFFFF"/>
                </a:highlight>
              </a:rPr>
              <a:t>1: No hay respuesta motora. </a:t>
            </a:r>
            <a:endParaRPr sz="3350">
              <a:solidFill>
                <a:srgbClr val="0A0A0A"/>
              </a:solidFill>
              <a:highlight>
                <a:srgbClr val="FFFFFF"/>
              </a:highlight>
            </a:endParaRPr>
          </a:p>
          <a:p>
            <a:pPr indent="0" lvl="0" marL="0" rtl="0" algn="l">
              <a:spcBef>
                <a:spcPts val="48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38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s" sz="1100">
                <a:solidFill>
                  <a:schemeClr val="dk1"/>
                </a:solidFill>
              </a:rPr>
              <a:t>La Escala de Coma de Glasgow (ECG) </a:t>
            </a:r>
            <a:r>
              <a:rPr lang="es" sz="1200">
                <a:solidFill>
                  <a:srgbClr val="001D35"/>
                </a:solidFill>
              </a:rPr>
              <a:t>es una herramienta esencial en el </a:t>
            </a:r>
            <a:r>
              <a:rPr i="1" lang="es" sz="1200">
                <a:solidFill>
                  <a:srgbClr val="001D35"/>
                </a:solidFill>
              </a:rPr>
              <a:t>triage</a:t>
            </a:r>
            <a:r>
              <a:rPr lang="es" sz="1200">
                <a:solidFill>
                  <a:srgbClr val="001D35"/>
                </a:solidFill>
              </a:rPr>
              <a:t> y la medicina de emergencia para evaluar el nivel de conciencia de un paciente mediante tres respuestas (ocular, verbal, motora), sumando puntos de 3 a 15 para determinar gravedad: 13-15 (leve), 9-12 (moderado), 3-8 (grave)</a:t>
            </a:r>
            <a:r>
              <a:rPr lang="es" sz="1200">
                <a:solidFill>
                  <a:srgbClr val="0A0A0A"/>
                </a:solidFill>
                <a:highlight>
                  <a:srgbClr val="FFFFFF"/>
                </a:highlight>
              </a:rPr>
              <a:t>, ayudando a priorizar la atención en traumatismos craneoencefálicos y otras afecciones neurológicas.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