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embeddedFontLst>
    <p:embeddedFont>
      <p:font typeface="Roboto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2B679C0-068F-4651-A365-24A96D212BFD}">
  <a:tblStyle styleId="{62B679C0-068F-4651-A365-24A96D212BF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regular.fntdata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Roboto-italic.fntdata"/><Relationship Id="rId10" Type="http://schemas.openxmlformats.org/officeDocument/2006/relationships/slide" Target="slides/slide4.xml"/><Relationship Id="rId32" Type="http://schemas.openxmlformats.org/officeDocument/2006/relationships/font" Target="fonts/Roboto-bold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schemas.openxmlformats.org/officeDocument/2006/relationships/font" Target="fonts/Roboto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929ad02b2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929ad02b2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29ad02b22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29ad02b22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929ad02b2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929ad02b2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bb8c8c12e6_0_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g3bb8c8c12e6_0_18:notes"/>
          <p:cNvSpPr/>
          <p:nvPr>
            <p:ph idx="2" type="sldImg"/>
          </p:nvPr>
        </p:nvSpPr>
        <p:spPr>
          <a:xfrm>
            <a:off x="685243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b8c8c12e6_0_10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bb8c8c12e6_0_105:notes"/>
          <p:cNvSpPr/>
          <p:nvPr>
            <p:ph idx="2" type="sldImg"/>
          </p:nvPr>
        </p:nvSpPr>
        <p:spPr>
          <a:xfrm>
            <a:off x="685243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b8c8c12e6_0_19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g3bb8c8c12e6_0_198:notes"/>
          <p:cNvSpPr/>
          <p:nvPr>
            <p:ph idx="2" type="sldImg"/>
          </p:nvPr>
        </p:nvSpPr>
        <p:spPr>
          <a:xfrm>
            <a:off x="685243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929ad02b2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929ad02b2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e14a39b12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be14a39b1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be14a39b12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be14a39b12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e14a39b12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be14a39b12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be14a39b1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be14a39b1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be14a39b12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be14a39b12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e1a6e10e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be1a6e10e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e1a6e10e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be1a6e10e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bfd073ef9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bfd073ef9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e1a6e10e0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be1a6e10e0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e1a6e10e0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be1a6e10e0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be14a39b12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be14a39b1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bc0ba900b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bc0ba900b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c0ba900b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bc0ba900b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bc0ba900b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bc0ba900b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c0ba900b9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bc0ba900b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be14a39b12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be14a39b12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6425" lIns="72850" spcFirstLastPara="1" rIns="72850" wrap="square" tIns="3642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1pPr>
            <a:lvl2pPr indent="-3175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indent="-317500" lvl="2" marL="1371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indent="-317500" lvl="3" marL="18288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indent="-317500" lvl="4" marL="22860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indent="-317500" lvl="5" marL="2743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628651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028954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6457958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Relationship Id="rId4" Type="http://schemas.openxmlformats.org/officeDocument/2006/relationships/hyperlink" Target="https://www.google.com/search?q=Apertura+Ocular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B" TargetMode="External"/><Relationship Id="rId5" Type="http://schemas.openxmlformats.org/officeDocument/2006/relationships/hyperlink" Target="https://www.google.com/search?q=Respuesta+Verbal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H" TargetMode="External"/><Relationship Id="rId6" Type="http://schemas.openxmlformats.org/officeDocument/2006/relationships/hyperlink" Target="https://www.google.com/search?q=Respuesta+Motora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O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SPG</a:t>
            </a:r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Notas para el desarrollo del sistema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6875"/>
            <a:ext cx="8269950" cy="506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90500" y="583500"/>
            <a:ext cx="2963000" cy="29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TECNOLOGÍAS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73333"/>
              <a:buFont typeface="Arial"/>
              <a:buNone/>
            </a:pPr>
            <a:r>
              <a:rPr b="1" lang="es" sz="15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Opción 1 (más equilibrada)</a:t>
            </a:r>
            <a:endParaRPr b="1" sz="15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Frontend: Vue.js o React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Backend: .NET Core (por mercado laboral local) o Node.js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Base de datos: PostgreSQL (balance entre potencia y costo)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Hosting: Azure o AWS (servidores en Brasil, latencia aceptable)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es" sz="15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Consideraciones específicas para el sistema de guardias:</a:t>
            </a:r>
            <a:endParaRPr b="1" sz="15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AutoNum type="arabicPeriod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Concurrencia moderada: No necesitas tecnología ultra escalable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AutoNum type="arabicPeriod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Disponibilidad: Sistema debe funcionar 24/7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AutoNum type="arabicPeriod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Reportes: PostgreSQL/MySQL son mejores para datos estructurados de guardias.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287655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ct val="100000"/>
              <a:buFont typeface="Roboto"/>
              <a:buAutoNum type="arabicPeriod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Móvil: Considerar API RESTful + aplicación móvil nativa o PWA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457200" rtl="0" algn="l">
              <a:spcBef>
                <a:spcPts val="17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	</a:t>
            </a:r>
            <a:endParaRPr/>
          </a:p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5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Opción 2 (más rápida para MVP)</a:t>
            </a:r>
            <a:endParaRPr b="1" sz="15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l">
              <a:spcBef>
                <a:spcPts val="1200"/>
              </a:spcBef>
              <a:spcAft>
                <a:spcPts val="0"/>
              </a:spcAft>
              <a:buClr>
                <a:srgbClr val="0F1115"/>
              </a:buClr>
              <a:buSzPts val="12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Fullstack: Laravel (PHP) con MySQL</a:t>
            </a:r>
            <a:endParaRPr sz="1200">
              <a:solidFill>
                <a:srgbClr val="0F1115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rgbClr val="0F1115"/>
              </a:buClr>
              <a:buSzPts val="1200"/>
              <a:buFont typeface="Roboto"/>
              <a:buChar char="●"/>
            </a:pPr>
            <a:r>
              <a:rPr lang="es" sz="1200">
                <a:solidFill>
                  <a:srgbClr val="0F1115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Ventaja: Desarrollo más rápido, 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BASE DE DATOS REPLICADA</a:t>
            </a:r>
            <a:endParaRPr/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43875"/>
            <a:ext cx="8839199" cy="2899632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7"/>
          <p:cNvSpPr txBox="1"/>
          <p:nvPr/>
        </p:nvSpPr>
        <p:spPr>
          <a:xfrm>
            <a:off x="254050" y="4423100"/>
            <a:ext cx="4005300" cy="34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Producción: 6 meses de antigüedad.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2" name="Google Shape;82;p17"/>
          <p:cNvSpPr txBox="1"/>
          <p:nvPr/>
        </p:nvSpPr>
        <p:spPr>
          <a:xfrm>
            <a:off x="4790525" y="4423100"/>
            <a:ext cx="4274700" cy="34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Histórico, consultas y análisis de datos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300">
                <a:solidFill>
                  <a:schemeClr val="dk2"/>
                </a:solidFill>
              </a:rPr>
              <a:t>https://kinsta.com/es/blog/postgresql-replicacion/</a:t>
            </a:r>
            <a:endParaRPr sz="13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sp>
        <p:nvSpPr>
          <p:cNvPr id="88" name="Google Shape;88;p18"/>
          <p:cNvSpPr txBox="1"/>
          <p:nvPr/>
        </p:nvSpPr>
        <p:spPr>
          <a:xfrm>
            <a:off x="0" y="0"/>
            <a:ext cx="9103500" cy="4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025" lIns="88025" spcFirstLastPara="1" rIns="88025" wrap="square" tIns="880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2700"/>
              <a:t>MÓDULOS </a:t>
            </a:r>
            <a:endParaRPr sz="2700">
              <a:solidFill>
                <a:srgbClr val="000000"/>
              </a:solidFill>
            </a:endParaRPr>
          </a:p>
        </p:txBody>
      </p:sp>
      <p:graphicFrame>
        <p:nvGraphicFramePr>
          <p:cNvPr id="89" name="Google Shape;89;p18"/>
          <p:cNvGraphicFramePr/>
          <p:nvPr/>
        </p:nvGraphicFramePr>
        <p:xfrm>
          <a:off x="129775" y="56127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{62B679C0-068F-4651-A365-24A96D212BFD}</a:tableStyleId>
              </a:tblPr>
              <a:tblGrid>
                <a:gridCol w="2243425"/>
                <a:gridCol w="2243425"/>
                <a:gridCol w="2243425"/>
                <a:gridCol w="2243425"/>
              </a:tblGrid>
              <a:tr h="2592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ADMISION</a:t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MEDICO</a:t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ADMINISTRATIVO</a:t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admin</a:t>
                      </a:r>
                      <a:endParaRPr/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Recepción</a:t>
                      </a:r>
                      <a:r>
                        <a:rPr lang="es" sz="1000"/>
                        <a:t> de </a:t>
                      </a:r>
                      <a:r>
                        <a:rPr lang="es" sz="1000"/>
                        <a:t>paquetes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Recepción de llamadas: policía, sien, otros efectores, etc.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Módulo</a:t>
                      </a:r>
                      <a:r>
                        <a:rPr lang="es" sz="1000"/>
                        <a:t> de Atención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Prescripciones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a enfermería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Recupero</a:t>
                      </a:r>
                      <a:r>
                        <a:rPr lang="es" sz="1000"/>
                        <a:t> financiero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colores y tiempo de espera del triaje.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destinos: enfermería y médicos.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91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s" sz="1000">
                          <a:solidFill>
                            <a:srgbClr val="FF0000"/>
                          </a:solidFill>
                        </a:rPr>
                        <a:t>ENFERMERÍA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Triage de enfermería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Prescripciones médicas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Evoluciones sin indicaciones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médicas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Derivación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Solicitudes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de estudios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Solicitud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de laboratorios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Interconsultas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t/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dotación de médicos y enfermeros.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especialidades y disponibilidad horaria</a:t>
                      </a:r>
                      <a:r>
                        <a:rPr lang="es" sz="1000"/>
                        <a:t>.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Configurar ambula</a:t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000">
                        <a:solidFill>
                          <a:srgbClr val="FF0000"/>
                        </a:solidFill>
                      </a:endParaRPr>
                    </a:p>
                  </a:txBody>
                  <a:tcPr marT="62200" marB="62200" marR="78200" marL="78200" anchor="ctr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Certificado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de defunción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Receta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electrónica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Arial"/>
                        <a:buNone/>
                      </a:pPr>
                      <a:r>
                        <a:rPr lang="es" sz="1000">
                          <a:solidFill>
                            <a:schemeClr val="dk1"/>
                          </a:solidFill>
                        </a:rPr>
                        <a:t>- Retiro</a:t>
                      </a:r>
                      <a:r>
                        <a:rPr lang="es" sz="1000">
                          <a:solidFill>
                            <a:schemeClr val="dk1"/>
                          </a:solidFill>
                        </a:rPr>
                        <a:t> voluntario</a:t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000">
                        <a:solidFill>
                          <a:schemeClr val="dk1"/>
                        </a:solidFill>
                      </a:endParaRPr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Certificado</a:t>
                      </a:r>
                      <a:r>
                        <a:rPr lang="es" sz="1000"/>
                        <a:t> policial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Notas</a:t>
                      </a:r>
                      <a:r>
                        <a:rPr lang="es" sz="1000"/>
                        <a:t> sin necesidad de diagnóstico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Fuga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000"/>
                        <a:t>- Certificados</a:t>
                      </a:r>
                      <a:r>
                        <a:rPr lang="es" sz="1000"/>
                        <a:t> de atención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62200" marB="62200" marR="78200" marL="78200">
                    <a:lnL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00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idx="11" type="ftr"/>
          </p:nvPr>
        </p:nvSpPr>
        <p:spPr>
          <a:xfrm>
            <a:off x="1490768" y="3872787"/>
            <a:ext cx="6152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rgbClr val="2B3E4C"/>
                </a:solidFill>
                <a:latin typeface="Calibri"/>
                <a:ea typeface="Calibri"/>
                <a:cs typeface="Calibri"/>
                <a:sym typeface="Calibri"/>
              </a:rPr>
              <a:t>Dirección Provincial de Gestión de la Información  |  sisprovguardia@gmail.com  |  2995359045</a:t>
            </a:r>
            <a:endParaRPr sz="1000">
              <a:solidFill>
                <a:srgbClr val="2B3E4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221313" y="0"/>
            <a:ext cx="8877300" cy="4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Autofit/>
          </a:bodyPr>
          <a:lstStyle/>
          <a:p>
            <a:pPr indent="0" lvl="0" marL="0" rtl="0" algn="ctr">
              <a:lnSpc>
                <a:spcPct val="120000"/>
              </a:lnSpc>
              <a:spcBef>
                <a:spcPts val="1500"/>
              </a:spcBef>
              <a:spcAft>
                <a:spcPts val="800"/>
              </a:spcAft>
              <a:buSzPts val="700"/>
              <a:buNone/>
            </a:pP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DICCIONARIO DE DATOS</a:t>
            </a:r>
            <a:b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</a:b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TIEMPOS DE ESPERA POR COLOR (REFERENCIA GENERAL)</a:t>
            </a:r>
            <a:endParaRPr sz="1500">
              <a:solidFill>
                <a:srgbClr val="001D35"/>
              </a:solidFill>
              <a:highlight>
                <a:srgbClr val="FFFFFF"/>
              </a:highlight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66577" y="889174"/>
            <a:ext cx="8877300" cy="28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rmAutofit lnSpcReduction="10000"/>
          </a:bodyPr>
          <a:lstStyle/>
          <a:p>
            <a:pPr indent="-304800" lvl="0" marL="4445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🟥 Rojo (Reanimación/Emergencia vital):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Atención inmediata (0 minutos).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 Riesgo de vida, como paro cardiorrespiratorio.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🟧 Naranja (Emergencia): Atención rápida,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máximo 10-15 minutos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. Ej: Shock, fractura expuesta.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🟨 Amarillo (Urgencia moderada):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Atención en aproximadamente 30-60 minutos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. Ej: Dolor abdominal, herida sin shock.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🟢 Verde (Urgencia menor):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Espera de hasta 2 horas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. Ej: Esguince, fiebre, vómitos.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🔵 Azul (Sin urgencia): Puede esperar varias horas </a:t>
            </a:r>
            <a:r>
              <a:rPr b="1" lang="es" sz="1200">
                <a:solidFill>
                  <a:srgbClr val="FF0000"/>
                </a:solidFill>
                <a:highlight>
                  <a:srgbClr val="FFFFFF"/>
                </a:highlight>
              </a:rPr>
              <a:t>(hasta 4 horas)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 o ser derivado a atención primaria. Ej: Resfrío, control rutinario. 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2300"/>
              </a:spcBef>
              <a:spcAft>
                <a:spcPts val="1200"/>
              </a:spcAft>
              <a:buNone/>
            </a:pPr>
            <a:r>
              <a:t/>
            </a:r>
            <a:endParaRPr sz="1700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idx="11" type="ftr"/>
          </p:nvPr>
        </p:nvSpPr>
        <p:spPr>
          <a:xfrm>
            <a:off x="1490768" y="3872787"/>
            <a:ext cx="6152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425" lIns="72850" spcFirstLastPara="1" rIns="72850" wrap="square" tIns="36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rgbClr val="2B3E4C"/>
                </a:solidFill>
                <a:latin typeface="Calibri"/>
                <a:ea typeface="Calibri"/>
                <a:cs typeface="Calibri"/>
                <a:sym typeface="Calibri"/>
              </a:rPr>
              <a:t>Dirección Provincial de Gestión de la Información  |  sisprovguardia@gmail.com  |  2995359045</a:t>
            </a:r>
            <a:endParaRPr sz="1000">
              <a:solidFill>
                <a:srgbClr val="2B3E4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0"/>
          <p:cNvSpPr txBox="1"/>
          <p:nvPr/>
        </p:nvSpPr>
        <p:spPr>
          <a:xfrm>
            <a:off x="194138" y="0"/>
            <a:ext cx="8877300" cy="4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DICCIONARIO DE DATOS</a:t>
            </a:r>
            <a:b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</a:b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LA ESCALA DE COMA DE GLASGOW </a:t>
            </a:r>
            <a:endParaRPr sz="1500">
              <a:solidFill>
                <a:srgbClr val="001D35"/>
              </a:solidFill>
              <a:highlight>
                <a:srgbClr val="FFFFFF"/>
              </a:highlight>
            </a:endParaRPr>
          </a:p>
        </p:txBody>
      </p:sp>
      <p:sp>
        <p:nvSpPr>
          <p:cNvPr id="103" name="Google Shape;103;p20"/>
          <p:cNvSpPr txBox="1"/>
          <p:nvPr/>
        </p:nvSpPr>
        <p:spPr>
          <a:xfrm>
            <a:off x="266577" y="889174"/>
            <a:ext cx="4167600" cy="28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rmAutofit fontScale="25000" lnSpcReduction="20000"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s" sz="3300">
                <a:solidFill>
                  <a:srgbClr val="001D35"/>
                </a:solidFill>
                <a:highlight>
                  <a:srgbClr val="FFFFFF"/>
                </a:highlight>
              </a:rPr>
              <a:t>Componentes de la Escala de Glasgow</a:t>
            </a:r>
            <a:endParaRPr sz="33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-280987" lvl="0" marL="4445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00" u="sng">
                <a:solidFill>
                  <a:srgbClr val="0097A7"/>
                </a:solidFill>
                <a:highlight>
                  <a:srgbClr val="FFFFFF"/>
                </a:highlight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Apertura Ocular</a:t>
            </a: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 (4 puntos):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4: Espontánea.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3: Al hablar.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2: Al dolor.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1: No abre.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00" u="sng">
                <a:solidFill>
                  <a:srgbClr val="0097A7"/>
                </a:solidFill>
                <a:highlight>
                  <a:srgbClr val="FFFFFF"/>
                </a:highlight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Respuesta Verbal</a:t>
            </a: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 (5 puntos):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5: Orientado y coherente.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4: Desorientado (confuso).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3: Palabras inapropiadas.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2: Sonidos incomprensibles.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1: No responde.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00" u="sng">
                <a:solidFill>
                  <a:srgbClr val="0097A7"/>
                </a:solidFill>
                <a:highlight>
                  <a:srgbClr val="FFFFFF"/>
                </a:highlight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Respuesta Motora</a:t>
            </a: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 (6 puntos):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6: Obedece órdenes.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5: Localiza el dolor.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4: Retira ante el dolor.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3: Flexión anormal (decorticación).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2: Extensión anormal (descerebración).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0987" lvl="1" marL="8890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00">
                <a:solidFill>
                  <a:srgbClr val="0A0A0A"/>
                </a:solidFill>
                <a:highlight>
                  <a:srgbClr val="FFFFFF"/>
                </a:highlight>
              </a:rPr>
              <a:t>1: No hay respuesta motora. </a:t>
            </a:r>
            <a:endParaRPr sz="33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47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595959"/>
              </a:solidFill>
            </a:endParaRPr>
          </a:p>
        </p:txBody>
      </p:sp>
      <p:sp>
        <p:nvSpPr>
          <p:cNvPr id="104" name="Google Shape;104;p20"/>
          <p:cNvSpPr txBox="1"/>
          <p:nvPr/>
        </p:nvSpPr>
        <p:spPr>
          <a:xfrm>
            <a:off x="4976593" y="889174"/>
            <a:ext cx="4167600" cy="28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88750" lIns="88750" spcFirstLastPara="1" rIns="88750" wrap="square" tIns="88750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100">
                <a:solidFill>
                  <a:srgbClr val="000000"/>
                </a:solidFill>
              </a:rPr>
              <a:t>La Escala de Coma de Glasgow (ECG) </a:t>
            </a:r>
            <a:r>
              <a:rPr lang="es" sz="1200">
                <a:solidFill>
                  <a:srgbClr val="001D35"/>
                </a:solidFill>
              </a:rPr>
              <a:t>es una herramienta esencial en el </a:t>
            </a:r>
            <a:r>
              <a:rPr i="1" lang="es" sz="1200">
                <a:solidFill>
                  <a:srgbClr val="001D35"/>
                </a:solidFill>
              </a:rPr>
              <a:t>triage</a:t>
            </a:r>
            <a:r>
              <a:rPr lang="es" sz="1200">
                <a:solidFill>
                  <a:srgbClr val="001D35"/>
                </a:solidFill>
              </a:rPr>
              <a:t> y la medicina de emergencia para evaluar el nivel de conciencia de un paciente mediante tres respuestas (ocular, verbal, motora), sumando puntos de </a:t>
            </a:r>
            <a:r>
              <a:rPr b="1" lang="es" sz="1200">
                <a:solidFill>
                  <a:srgbClr val="FF0000"/>
                </a:solidFill>
              </a:rPr>
              <a:t>3 a 15</a:t>
            </a:r>
            <a:r>
              <a:rPr lang="es" sz="1200">
                <a:solidFill>
                  <a:srgbClr val="001D35"/>
                </a:solidFill>
              </a:rPr>
              <a:t> para determinar gravedad: 13-15 (leve), 9-12 (moderado), 3-8 (grave)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, ayudando a priorizar la atención en traumatismos craneoencefálicos y otras afecciones neurológicas. </a:t>
            </a:r>
            <a:endParaRPr sz="1400">
              <a:solidFill>
                <a:srgbClr val="595959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>
            <p:ph type="title"/>
          </p:nvPr>
        </p:nvSpPr>
        <p:spPr>
          <a:xfrm>
            <a:off x="311700" y="72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Destino Pacientes</a:t>
            </a:r>
            <a:endParaRPr/>
          </a:p>
        </p:txBody>
      </p:sp>
      <p:sp>
        <p:nvSpPr>
          <p:cNvPr id="110" name="Google Shape;110;p21"/>
          <p:cNvSpPr txBox="1"/>
          <p:nvPr>
            <p:ph idx="1" type="body"/>
          </p:nvPr>
        </p:nvSpPr>
        <p:spPr>
          <a:xfrm>
            <a:off x="311700" y="888300"/>
            <a:ext cx="3999900" cy="408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Enfermería</a:t>
            </a:r>
            <a:r>
              <a:rPr lang="es"/>
              <a:t>	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Sala </a:t>
            </a:r>
            <a:r>
              <a:rPr lang="es"/>
              <a:t>de espera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Pasillo </a:t>
            </a:r>
            <a:r>
              <a:rPr lang="es"/>
              <a:t>interno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Shockroom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Procedimientos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Sala de </a:t>
            </a:r>
            <a:r>
              <a:rPr lang="es"/>
              <a:t>Tto.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consultorio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Observación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cns procedimientos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Nebulizaciones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Alta Enfermería </a:t>
            </a:r>
            <a:r>
              <a:rPr lang="es"/>
              <a:t>- Finaliza atención</a:t>
            </a:r>
            <a:endParaRPr/>
          </a:p>
        </p:txBody>
      </p:sp>
      <p:sp>
        <p:nvSpPr>
          <p:cNvPr id="111" name="Google Shape;111;p21"/>
          <p:cNvSpPr txBox="1"/>
          <p:nvPr>
            <p:ph idx="2" type="body"/>
          </p:nvPr>
        </p:nvSpPr>
        <p:spPr>
          <a:xfrm>
            <a:off x="4832400" y="888300"/>
            <a:ext cx="3999900" cy="39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Médicos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Alta 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Retiro voluntario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Fuga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Defunción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Internación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Derivación </a:t>
            </a:r>
            <a:r>
              <a:rPr lang="es"/>
              <a:t>- Finaliza atención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Boxes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shock room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Atención en el lugar de la llamada (prehospitalario)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78571"/>
              <a:buFont typeface="Arial"/>
              <a:buNone/>
            </a:pPr>
            <a:r>
              <a:rPr lang="es"/>
              <a:t>Rechazo traslado al hospital.(prehospitalario)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ENFERMERIA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/>
          <p:nvPr>
            <p:ph type="title"/>
          </p:nvPr>
        </p:nvSpPr>
        <p:spPr>
          <a:xfrm>
            <a:off x="623475" y="94775"/>
            <a:ext cx="7886700" cy="5643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ct val="40909"/>
              <a:buNone/>
            </a:pPr>
            <a:r>
              <a:rPr lang="es" sz="2420"/>
              <a:t>VARIACIÓN </a:t>
            </a:r>
            <a:r>
              <a:rPr lang="es" sz="2420"/>
              <a:t>PROCESO ESTÁNDAR ATENCIÓN </a:t>
            </a:r>
            <a:r>
              <a:rPr lang="es" sz="2420"/>
              <a:t>ENFERMERÍA</a:t>
            </a:r>
            <a:r>
              <a:rPr lang="es" sz="2420"/>
              <a:t> SIMPLE</a:t>
            </a:r>
            <a:endParaRPr sz="2420"/>
          </a:p>
        </p:txBody>
      </p:sp>
      <p:pic>
        <p:nvPicPr>
          <p:cNvPr id="122" name="Google Shape;122;p23" title="HSENILLOSA-E-ALTA-CARRILES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550" y="1212650"/>
            <a:ext cx="8839200" cy="2430585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3"/>
          <p:cNvSpPr txBox="1"/>
          <p:nvPr/>
        </p:nvSpPr>
        <p:spPr>
          <a:xfrm>
            <a:off x="6798300" y="3123350"/>
            <a:ext cx="1783800" cy="2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rgbClr val="FF0000"/>
                </a:solidFill>
              </a:rPr>
              <a:t>SENILLOSA</a:t>
            </a:r>
            <a:endParaRPr b="1"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MEDICO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 txBox="1"/>
          <p:nvPr>
            <p:ph type="title"/>
          </p:nvPr>
        </p:nvSpPr>
        <p:spPr>
          <a:xfrm>
            <a:off x="623475" y="94775"/>
            <a:ext cx="7886700" cy="5643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420"/>
              <a:t>PROCESO </a:t>
            </a:r>
            <a:r>
              <a:rPr lang="es" sz="2420"/>
              <a:t>ESTÁNDAR ATENCIÓN MÉDICA SIMPLE</a:t>
            </a:r>
            <a:endParaRPr sz="2420"/>
          </a:p>
        </p:txBody>
      </p:sp>
      <p:pic>
        <p:nvPicPr>
          <p:cNvPr id="134" name="Google Shape;134;p25" title="HHH-GEM-CONSULTA-SIMPLE-CARRILES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575" y="737850"/>
            <a:ext cx="8732499" cy="4131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 txBox="1"/>
          <p:nvPr>
            <p:ph type="title"/>
          </p:nvPr>
        </p:nvSpPr>
        <p:spPr>
          <a:xfrm>
            <a:off x="623475" y="94775"/>
            <a:ext cx="7886700" cy="5643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1720"/>
              <a:t>VARIACIÓN DEL PROCESO</a:t>
            </a:r>
            <a:r>
              <a:rPr lang="es" sz="1720"/>
              <a:t> ESTÁNDAR DE ATENCIÓN </a:t>
            </a:r>
            <a:r>
              <a:rPr lang="es" sz="1720"/>
              <a:t>MÉDICA</a:t>
            </a:r>
            <a:r>
              <a:rPr lang="es" sz="1720"/>
              <a:t> SIMPLE</a:t>
            </a:r>
            <a:endParaRPr sz="1720"/>
          </a:p>
        </p:txBody>
      </p:sp>
      <p:pic>
        <p:nvPicPr>
          <p:cNvPr id="140" name="Google Shape;140;p26" title="HSENILLOSA-EM-CONSULTA-SIMPLE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475" y="659075"/>
            <a:ext cx="8997549" cy="4305324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6"/>
          <p:cNvSpPr txBox="1"/>
          <p:nvPr/>
        </p:nvSpPr>
        <p:spPr>
          <a:xfrm>
            <a:off x="7177975" y="2346150"/>
            <a:ext cx="1619100" cy="4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rgbClr val="FF0000"/>
                </a:solidFill>
              </a:rPr>
              <a:t>SENILLOSA</a:t>
            </a:r>
            <a:endParaRPr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ideas de interfaz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1" name="Google Shape;151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925" y="243577"/>
            <a:ext cx="3018575" cy="131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88385" y="2571750"/>
            <a:ext cx="4228415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8"/>
          <p:cNvSpPr txBox="1"/>
          <p:nvPr/>
        </p:nvSpPr>
        <p:spPr>
          <a:xfrm>
            <a:off x="4111925" y="164775"/>
            <a:ext cx="4584900" cy="18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Para pasar del Login al Tablero de Guardia de forma directa, debe existir un programador de médicos y enfermeros de guardia. Cuando hacen login, controla y, si está programado, pasa directo al tablero de guardia.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54" name="Google Shape;154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7600" y="3567500"/>
            <a:ext cx="1384425" cy="14307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/>
        </p:nvSpPr>
        <p:spPr>
          <a:xfrm>
            <a:off x="438950" y="2459125"/>
            <a:ext cx="3637200" cy="89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200">
                <a:solidFill>
                  <a:schemeClr val="dk2"/>
                </a:solidFill>
              </a:rPr>
              <a:t>En el tablero debe existir una columna llamada menú u opciones que reaccione al estado del paciente, para achicar el número de columnas y mejorar la visibilidad.</a:t>
            </a:r>
            <a:endParaRPr sz="1200">
              <a:solidFill>
                <a:schemeClr val="dk2"/>
              </a:solidFill>
            </a:endParaRPr>
          </a:p>
        </p:txBody>
      </p:sp>
      <p:cxnSp>
        <p:nvCxnSpPr>
          <p:cNvPr id="156" name="Google Shape;156;p28"/>
          <p:cNvCxnSpPr>
            <a:stCxn id="153" idx="2"/>
          </p:cNvCxnSpPr>
          <p:nvPr/>
        </p:nvCxnSpPr>
        <p:spPr>
          <a:xfrm>
            <a:off x="6404375" y="1984275"/>
            <a:ext cx="0" cy="537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7" name="Google Shape;157;p28"/>
          <p:cNvCxnSpPr>
            <a:stCxn id="155" idx="2"/>
          </p:cNvCxnSpPr>
          <p:nvPr/>
        </p:nvCxnSpPr>
        <p:spPr>
          <a:xfrm flipH="1">
            <a:off x="1468550" y="3352525"/>
            <a:ext cx="789000" cy="831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Sugerencias </a:t>
            </a:r>
            <a:r>
              <a:rPr lang="es"/>
              <a:t>Módulo Enfermería</a:t>
            </a:r>
            <a:r>
              <a:rPr lang="es"/>
              <a:t>	</a:t>
            </a:r>
            <a:endParaRPr/>
          </a:p>
        </p:txBody>
      </p:sp>
      <p:sp>
        <p:nvSpPr>
          <p:cNvPr id="163" name="Google Shape;163;p29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s"/>
              <a:t>No usar </a:t>
            </a:r>
            <a:r>
              <a:rPr lang="es"/>
              <a:t>diagnóstico.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Utilizar </a:t>
            </a:r>
            <a:r>
              <a:rPr lang="es"/>
              <a:t>motivo</a:t>
            </a:r>
            <a:r>
              <a:rPr lang="es"/>
              <a:t> de </a:t>
            </a:r>
            <a:r>
              <a:rPr lang="es"/>
              <a:t>consulta</a:t>
            </a:r>
            <a:r>
              <a:rPr lang="es"/>
              <a:t> ligado a </a:t>
            </a:r>
            <a:r>
              <a:rPr lang="es"/>
              <a:t>SNOMED.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/>
          <p:nvPr/>
        </p:nvSpPr>
        <p:spPr>
          <a:xfrm>
            <a:off x="71625" y="601750"/>
            <a:ext cx="8997600" cy="444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Navbar Menu pulldown</a:t>
            </a:r>
            <a:endParaRPr/>
          </a:p>
        </p:txBody>
      </p:sp>
      <p:sp>
        <p:nvSpPr>
          <p:cNvPr id="169" name="Google Shape;169;p30"/>
          <p:cNvSpPr/>
          <p:nvPr/>
        </p:nvSpPr>
        <p:spPr>
          <a:xfrm>
            <a:off x="93125" y="1110375"/>
            <a:ext cx="6297000" cy="3610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Área</a:t>
            </a:r>
            <a:r>
              <a:rPr lang="es"/>
              <a:t> triagecon desplazamiento vertical para facilitar la escritura y lectura completa de la </a:t>
            </a:r>
            <a:r>
              <a:rPr lang="es"/>
              <a:t>atención</a:t>
            </a:r>
            <a:r>
              <a:rPr lang="es"/>
              <a:t> en una sola pantalla, </a:t>
            </a:r>
            <a:r>
              <a:rPr lang="es"/>
              <a:t>más óptima</a:t>
            </a:r>
            <a:r>
              <a:rPr lang="es"/>
              <a:t> para dispositivos </a:t>
            </a:r>
            <a:r>
              <a:rPr lang="es"/>
              <a:t>móviles.</a:t>
            </a:r>
            <a:endParaRPr/>
          </a:p>
        </p:txBody>
      </p:sp>
      <p:sp>
        <p:nvSpPr>
          <p:cNvPr id="170" name="Google Shape;170;p30"/>
          <p:cNvSpPr/>
          <p:nvPr/>
        </p:nvSpPr>
        <p:spPr>
          <a:xfrm>
            <a:off x="6425800" y="1110375"/>
            <a:ext cx="2629200" cy="3610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2"/>
                </a:solidFill>
              </a:rPr>
              <a:t>Los N Triage de guardia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2"/>
                </a:solidFill>
              </a:rPr>
              <a:t>Las últimas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anteriores en guardia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2"/>
                </a:solidFill>
              </a:rPr>
              <a:t>Los últimos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retiros de medicamentos</a:t>
            </a:r>
            <a:endParaRPr b="1"/>
          </a:p>
        </p:txBody>
      </p:sp>
      <p:sp>
        <p:nvSpPr>
          <p:cNvPr id="171" name="Google Shape;171;p30"/>
          <p:cNvSpPr txBox="1"/>
          <p:nvPr>
            <p:ph type="title"/>
          </p:nvPr>
        </p:nvSpPr>
        <p:spPr>
          <a:xfrm>
            <a:off x="182775" y="0"/>
            <a:ext cx="8872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Interfaz enfermero.</a:t>
            </a:r>
            <a:endParaRPr/>
          </a:p>
        </p:txBody>
      </p:sp>
      <p:sp>
        <p:nvSpPr>
          <p:cNvPr id="172" name="Google Shape;172;p30"/>
          <p:cNvSpPr/>
          <p:nvPr/>
        </p:nvSpPr>
        <p:spPr>
          <a:xfrm>
            <a:off x="93975" y="4720975"/>
            <a:ext cx="8952900" cy="336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30"/>
          <p:cNvSpPr/>
          <p:nvPr/>
        </p:nvSpPr>
        <p:spPr>
          <a:xfrm>
            <a:off x="143275" y="4746025"/>
            <a:ext cx="1002900" cy="286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Cancelar</a:t>
            </a:r>
            <a:endParaRPr/>
          </a:p>
        </p:txBody>
      </p:sp>
      <p:sp>
        <p:nvSpPr>
          <p:cNvPr id="174" name="Google Shape;174;p30"/>
          <p:cNvSpPr/>
          <p:nvPr/>
        </p:nvSpPr>
        <p:spPr>
          <a:xfrm>
            <a:off x="1219775" y="4746025"/>
            <a:ext cx="1002900" cy="286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Grabar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1"/>
          <p:cNvSpPr/>
          <p:nvPr/>
        </p:nvSpPr>
        <p:spPr>
          <a:xfrm>
            <a:off x="71625" y="601750"/>
            <a:ext cx="8997600" cy="4440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Navbar Menu pulldown</a:t>
            </a:r>
            <a:endParaRPr/>
          </a:p>
        </p:txBody>
      </p:sp>
      <p:sp>
        <p:nvSpPr>
          <p:cNvPr id="180" name="Google Shape;180;p31"/>
          <p:cNvSpPr/>
          <p:nvPr/>
        </p:nvSpPr>
        <p:spPr>
          <a:xfrm>
            <a:off x="93125" y="1110375"/>
            <a:ext cx="6297000" cy="3610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Área Informe médico con desplazamiento vertical para facilitar la escritura y lectura completa de la atención en una sola pantalla, más óptima para dispositivos móviles.</a:t>
            </a:r>
            <a:endParaRPr/>
          </a:p>
        </p:txBody>
      </p:sp>
      <p:sp>
        <p:nvSpPr>
          <p:cNvPr id="181" name="Google Shape;181;p31"/>
          <p:cNvSpPr/>
          <p:nvPr/>
        </p:nvSpPr>
        <p:spPr>
          <a:xfrm>
            <a:off x="6425800" y="1110375"/>
            <a:ext cx="2629200" cy="3610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Los N Triage de guardia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Las últimas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anteriores en guardia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Las últimas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atenciones en consultorio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2"/>
                </a:solidFill>
              </a:rPr>
              <a:t>Los últimos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retiros de medicamentos</a:t>
            </a:r>
            <a:endParaRPr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s">
                <a:solidFill>
                  <a:schemeClr val="dk2"/>
                </a:solidFill>
              </a:rPr>
              <a:t>Los últimos </a:t>
            </a:r>
            <a:r>
              <a:rPr b="1" lang="es">
                <a:solidFill>
                  <a:schemeClr val="dk2"/>
                </a:solidFill>
              </a:rPr>
              <a:t>N </a:t>
            </a:r>
            <a:r>
              <a:rPr lang="es">
                <a:solidFill>
                  <a:schemeClr val="dk2"/>
                </a:solidFill>
              </a:rPr>
              <a:t>laboratorios realizados</a:t>
            </a:r>
            <a:endParaRPr b="1"/>
          </a:p>
        </p:txBody>
      </p:sp>
      <p:sp>
        <p:nvSpPr>
          <p:cNvPr id="182" name="Google Shape;182;p31"/>
          <p:cNvSpPr txBox="1"/>
          <p:nvPr>
            <p:ph type="title"/>
          </p:nvPr>
        </p:nvSpPr>
        <p:spPr>
          <a:xfrm>
            <a:off x="182775" y="0"/>
            <a:ext cx="8872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Interfaz médico.</a:t>
            </a:r>
            <a:endParaRPr/>
          </a:p>
        </p:txBody>
      </p:sp>
      <p:sp>
        <p:nvSpPr>
          <p:cNvPr id="183" name="Google Shape;183;p31"/>
          <p:cNvSpPr/>
          <p:nvPr/>
        </p:nvSpPr>
        <p:spPr>
          <a:xfrm>
            <a:off x="93975" y="4720975"/>
            <a:ext cx="8952900" cy="336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1"/>
          <p:cNvSpPr/>
          <p:nvPr/>
        </p:nvSpPr>
        <p:spPr>
          <a:xfrm>
            <a:off x="143275" y="4746025"/>
            <a:ext cx="1002900" cy="286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Cancelar</a:t>
            </a:r>
            <a:endParaRPr/>
          </a:p>
        </p:txBody>
      </p:sp>
      <p:sp>
        <p:nvSpPr>
          <p:cNvPr id="185" name="Google Shape;185;p31"/>
          <p:cNvSpPr/>
          <p:nvPr/>
        </p:nvSpPr>
        <p:spPr>
          <a:xfrm>
            <a:off x="1219775" y="4746025"/>
            <a:ext cx="1002900" cy="2865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Grabar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Inconvenientes</a:t>
            </a:r>
            <a:r>
              <a:rPr lang="es"/>
              <a:t> expresados por los usuarios de los sistemas actuales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HELLER</a:t>
            </a:r>
            <a:endParaRPr/>
          </a:p>
        </p:txBody>
      </p:sp>
      <p:sp>
        <p:nvSpPr>
          <p:cNvPr id="196" name="Google Shape;196;p33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4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CSP</a:t>
            </a:r>
            <a:endParaRPr/>
          </a:p>
        </p:txBody>
      </p:sp>
      <p:sp>
        <p:nvSpPr>
          <p:cNvPr id="202" name="Google Shape;202;p34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5"/>
          <p:cNvSpPr txBox="1"/>
          <p:nvPr>
            <p:ph type="title"/>
          </p:nvPr>
        </p:nvSpPr>
        <p:spPr>
          <a:xfrm>
            <a:off x="628651" y="273845"/>
            <a:ext cx="7886700" cy="9942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CENTENARIO</a:t>
            </a:r>
            <a:endParaRPr/>
          </a:p>
        </p:txBody>
      </p:sp>
      <p:sp>
        <p:nvSpPr>
          <p:cNvPr id="208" name="Google Shape;208;p35"/>
          <p:cNvSpPr txBox="1"/>
          <p:nvPr>
            <p:ph idx="1" type="body"/>
          </p:nvPr>
        </p:nvSpPr>
        <p:spPr>
          <a:xfrm>
            <a:off x="628651" y="1369219"/>
            <a:ext cx="7886700" cy="3263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6"/>
          <p:cNvSpPr txBox="1"/>
          <p:nvPr>
            <p:ph type="title"/>
          </p:nvPr>
        </p:nvSpPr>
        <p:spPr>
          <a:xfrm>
            <a:off x="628650" y="116250"/>
            <a:ext cx="7886700" cy="521400"/>
          </a:xfrm>
          <a:prstGeom prst="rect">
            <a:avLst/>
          </a:prstGeom>
        </p:spPr>
        <p:txBody>
          <a:bodyPr anchorCtr="0" anchor="ctr" bIns="36425" lIns="72850" spcFirstLastPara="1" rIns="72850" wrap="square" tIns="36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HCR</a:t>
            </a:r>
            <a:endParaRPr/>
          </a:p>
        </p:txBody>
      </p:sp>
      <p:sp>
        <p:nvSpPr>
          <p:cNvPr id="214" name="Google Shape;214;p36"/>
          <p:cNvSpPr txBox="1"/>
          <p:nvPr>
            <p:ph idx="1" type="body"/>
          </p:nvPr>
        </p:nvSpPr>
        <p:spPr>
          <a:xfrm>
            <a:off x="628650" y="723525"/>
            <a:ext cx="7886700" cy="4169400"/>
          </a:xfrm>
          <a:prstGeom prst="rect">
            <a:avLst/>
          </a:prstGeom>
        </p:spPr>
        <p:txBody>
          <a:bodyPr anchorCtr="0" anchor="t" bIns="36425" lIns="72850" spcFirstLastPara="1" rIns="72850" wrap="square" tIns="36425">
            <a:normAutofit/>
          </a:bodyPr>
          <a:lstStyle/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lang="es"/>
              <a:t>Usaría</a:t>
            </a:r>
            <a:r>
              <a:rPr lang="es"/>
              <a:t> 5 colores de </a:t>
            </a:r>
            <a:r>
              <a:rPr lang="es"/>
              <a:t>triage.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Sistema</a:t>
            </a:r>
            <a:r>
              <a:rPr lang="es"/>
              <a:t> para prescribir a </a:t>
            </a:r>
            <a:r>
              <a:rPr lang="es"/>
              <a:t>médicos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Integración ANDES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Unificar</a:t>
            </a:r>
            <a:r>
              <a:rPr lang="es"/>
              <a:t> sistemas </a:t>
            </a:r>
            <a:r>
              <a:rPr lang="es"/>
              <a:t>Intranet</a:t>
            </a:r>
            <a:r>
              <a:rPr lang="es"/>
              <a:t> y ANDES</a:t>
            </a:r>
            <a:r>
              <a:rPr lang="es"/>
              <a:t>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Medir el tiempo de espera del paciente (admisión-triage)-(triage-médico).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acceso </a:t>
            </a:r>
            <a:r>
              <a:rPr lang="es"/>
              <a:t>sencillo</a:t>
            </a:r>
            <a:r>
              <a:rPr lang="es"/>
              <a:t> a los estudios complementarios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Plottier</a:t>
            </a:r>
            <a:endParaRPr/>
          </a:p>
        </p:txBody>
      </p:sp>
      <p:sp>
        <p:nvSpPr>
          <p:cNvPr id="220" name="Google Shape;220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Cierra</a:t>
            </a:r>
            <a:r>
              <a:rPr lang="es"/>
              <a:t> los pacientes a las </a:t>
            </a:r>
            <a:r>
              <a:rPr lang="es"/>
              <a:t>24 hs</a:t>
            </a:r>
            <a:r>
              <a:rPr lang="es"/>
              <a:t> de estar en el </a:t>
            </a:r>
            <a:r>
              <a:rPr lang="es"/>
              <a:t>sistema.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No</a:t>
            </a:r>
            <a:r>
              <a:rPr lang="es"/>
              <a:t> avisa de consultas repetidas del mismo paciente en el mismo </a:t>
            </a:r>
            <a:r>
              <a:rPr lang="es"/>
              <a:t>día.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No avisa de procedimientos médicos prescriptos a los pacientes a Enfermería.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lentitud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s"/>
              <a:t>No geolocaliza el domicilio del paciente (útil para el sistema prehospitalario).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