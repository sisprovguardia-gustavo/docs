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y="5143500" cx="9144000"/>
  <p:notesSz cx="6858000" cy="9144000"/>
  <p:embeddedFontLst>
    <p:embeddedFont>
      <p:font typeface="Roboto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FE4E951-B890-4E08-BE89-0FD17AA7A977}">
  <a:tblStyle styleId="{9FE4E951-B890-4E08-BE89-0FD17AA7A97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italic.fntdata"/><Relationship Id="rId20" Type="http://schemas.openxmlformats.org/officeDocument/2006/relationships/slide" Target="slides/slide14.xml"/><Relationship Id="rId41" Type="http://schemas.openxmlformats.org/officeDocument/2006/relationships/font" Target="fonts/Roboto-bold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Roboto-bold.fntdata"/><Relationship Id="rId16" Type="http://schemas.openxmlformats.org/officeDocument/2006/relationships/slide" Target="slides/slide10.xml"/><Relationship Id="rId38" Type="http://schemas.openxmlformats.org/officeDocument/2006/relationships/font" Target="fonts/Roboto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29ad02b2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29ad02b2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29ad02b2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29ad02b2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29ad02b2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929ad02b2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b8c8c12e6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3bb8c8c12e6_0_18:notes"/>
          <p:cNvSpPr/>
          <p:nvPr>
            <p:ph idx="2" type="sldImg"/>
          </p:nvPr>
        </p:nvSpPr>
        <p:spPr>
          <a:xfrm>
            <a:off x="685243" y="1143000"/>
            <a:ext cx="5487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cabc7f3c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cabc7f3c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cabc7f3c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cabc7f3c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cabc7f3c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cabc7f3c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e14a39b1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e14a39b1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cabc7f3ce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bcabc7f3ce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e14a39b12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be14a39b12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cabc7f3ce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bcabc7f3ce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cabc7f3ce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cabc7f3ce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fd073ef9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bfd073ef9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e1a6e10e0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be1a6e10e0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bb8c8c12e6_0_1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bb8c8c12e6_0_105:notes"/>
          <p:cNvSpPr/>
          <p:nvPr>
            <p:ph idx="2" type="sldImg"/>
          </p:nvPr>
        </p:nvSpPr>
        <p:spPr>
          <a:xfrm>
            <a:off x="685243" y="1143000"/>
            <a:ext cx="5487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b8c8c12e6_0_1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bb8c8c12e6_0_198:notes"/>
          <p:cNvSpPr/>
          <p:nvPr>
            <p:ph idx="2" type="sldImg"/>
          </p:nvPr>
        </p:nvSpPr>
        <p:spPr>
          <a:xfrm>
            <a:off x="685243" y="1143000"/>
            <a:ext cx="54876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be14a39b1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be14a39b1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bcabc7f3ce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bcabc7f3ce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be14a39b1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be14a39b1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be14a39b1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be14a39b1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be1a6e10e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be1a6e10e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e1a6e10e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be1a6e10e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be1a6e10e0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be1a6e10e0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be14a39b1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be14a39b1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cabc7f3ce_1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bcabc7f3ce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bc0ba900b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bc0ba900b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bc0ba900b9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bc0ba900b9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bc0ba900b9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bc0ba900b9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bc0ba900b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bc0ba900b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be14a39b12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be14a39b12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1" y="27384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25" lIns="72850" spcFirstLastPara="1" rIns="72850" wrap="square" tIns="36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1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25" lIns="72850" spcFirstLastPara="1" rIns="72850" wrap="square" tIns="3642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1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25" lIns="72850" spcFirstLastPara="1" rIns="72850" wrap="square" tIns="36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4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25" lIns="72850" spcFirstLastPara="1" rIns="72850" wrap="square" tIns="36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8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25" lIns="72850" spcFirstLastPara="1" rIns="72850" wrap="square" tIns="3642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jpg"/><Relationship Id="rId4" Type="http://schemas.openxmlformats.org/officeDocument/2006/relationships/hyperlink" Target="https://www.google.com/search?q=Apertura+Ocular&amp;oq=triage+escala+de+glassow&amp;gs_lcrp=EgZjaHJvbWUyBggAEEUYOTIKCAEQABgIGA0YHjIHCAIQABjvBTIKCAMQABiABBiiBDIKCAQQABiABBiiBDIKCAUQABiABBiiBDIKCAYQABiABBiiBNIBCDkwMTJqMGo3qAIAsAIA&amp;sourceid=chrome&amp;ie=UTF-8&amp;mstk=AUtExfBjh9j9zaxe0A0LdtLRTmNiEjGpjuPhhxuOsO6BrqHBJK7RZn2C3UXDB-OrNJF7X_RDDWvKu0SxjSP3O_Ok302C_cu5SDePBhwk3OS9YbiCri5C8cquz56xRuzThhIZBfCrSdlm_NV3Fyu_CXz3jyx3jFUyioN5xeEfsaY-oDInDTc&amp;csui=3&amp;ved=2ahUKEwj2xbHhtMeRAxWrLrkGHRC-GwIQgK4QegQIAxAB" TargetMode="External"/><Relationship Id="rId5" Type="http://schemas.openxmlformats.org/officeDocument/2006/relationships/hyperlink" Target="https://www.google.com/search?q=Respuesta+Verbal&amp;oq=triage+escala+de+glassow&amp;gs_lcrp=EgZjaHJvbWUyBggAEEUYOTIKCAEQABgIGA0YHjIHCAIQABjvBTIKCAMQABiABBiiBDIKCAQQABiABBiiBDIKCAUQABiABBiiBDIKCAYQABiABBiiBNIBCDkwMTJqMGo3qAIAsAIA&amp;sourceid=chrome&amp;ie=UTF-8&amp;mstk=AUtExfBjh9j9zaxe0A0LdtLRTmNiEjGpjuPhhxuOsO6BrqHBJK7RZn2C3UXDB-OrNJF7X_RDDWvKu0SxjSP3O_Ok302C_cu5SDePBhwk3OS9YbiCri5C8cquz56xRuzThhIZBfCrSdlm_NV3Fyu_CXz3jyx3jFUyioN5xeEfsaY-oDInDTc&amp;csui=3&amp;ved=2ahUKEwj2xbHhtMeRAxWrLrkGHRC-GwIQgK4QegQIAxAH" TargetMode="External"/><Relationship Id="rId6" Type="http://schemas.openxmlformats.org/officeDocument/2006/relationships/hyperlink" Target="https://www.google.com/search?q=Respuesta+Motora&amp;oq=triage+escala+de+glassow&amp;gs_lcrp=EgZjaHJvbWUyBggAEEUYOTIKCAEQABgIGA0YHjIHCAIQABjvBTIKCAMQABiABBiiBDIKCAQQABiABBiiBDIKCAUQABiABBiiBDIKCAYQABiABBiiBNIBCDkwMTJqMGo3qAIAsAIA&amp;sourceid=chrome&amp;ie=UTF-8&amp;mstk=AUtExfBjh9j9zaxe0A0LdtLRTmNiEjGpjuPhhxuOsO6BrqHBJK7RZn2C3UXDB-OrNJF7X_RDDWvKu0SxjSP3O_Ok302C_cu5SDePBhwk3OS9YbiCri5C8cquz56xRuzThhIZBfCrSdlm_NV3Fyu_CXz3jyx3jFUyioN5xeEfsaY-oDInDTc&amp;csui=3&amp;ved=2ahUKEwj2xbHhtMeRAxWrLrkGHRC-GwIQgK4QegQIAxAO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900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SPG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1"/>
                </a:solidFill>
              </a:rPr>
              <a:t>Notas para el desarrollo del sistema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6875"/>
            <a:ext cx="8269950" cy="506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90500" y="583500"/>
            <a:ext cx="2963000" cy="296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TECNOLOGÍAS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b="1" lang="es" sz="15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Opción 1 (más equilibrada)</a:t>
            </a:r>
            <a:endParaRPr b="1" sz="15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87655" lvl="0" marL="457200" rtl="0" algn="l"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ct val="100000"/>
              <a:buFont typeface="Roboto"/>
              <a:buChar char="●"/>
            </a:pPr>
            <a:r>
              <a:rPr lang="es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Frontend: Vue.js o React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87655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ct val="100000"/>
              <a:buFont typeface="Roboto"/>
              <a:buChar char="●"/>
            </a:pPr>
            <a:r>
              <a:rPr lang="es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Backend: .NET Core (por mercado laboral local) o Node.js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87655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ct val="100000"/>
              <a:buFont typeface="Roboto"/>
              <a:buChar char="●"/>
            </a:pPr>
            <a:r>
              <a:rPr lang="es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Base de datos: PostgreSQL (balance entre potencia y costo)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87655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ct val="100000"/>
              <a:buFont typeface="Roboto"/>
              <a:buChar char="●"/>
            </a:pPr>
            <a:r>
              <a:rPr lang="es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Hosting: Azure o AWS (servidores en Brasil, latencia aceptable)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Consideraciones específicas para el sistema de guardias:</a:t>
            </a:r>
            <a:endParaRPr b="1" sz="15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87655" lvl="0" marL="457200" rtl="0" algn="l"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ct val="100000"/>
              <a:buFont typeface="Roboto"/>
              <a:buAutoNum type="arabicPeriod"/>
            </a:pPr>
            <a:r>
              <a:rPr lang="es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Concurrencia moderada: No necesitas tecnología ultra escalable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87655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ct val="100000"/>
              <a:buFont typeface="Roboto"/>
              <a:buAutoNum type="arabicPeriod"/>
            </a:pPr>
            <a:r>
              <a:rPr lang="es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Disponibilidad: Sistema debe funcionar 24/7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87655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ct val="100000"/>
              <a:buFont typeface="Roboto"/>
              <a:buAutoNum type="arabicPeriod"/>
            </a:pPr>
            <a:r>
              <a:rPr lang="es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Reportes: PostgreSQL/MySQL son mejores para datos estructurados de guardias.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87655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ct val="100000"/>
              <a:buFont typeface="Roboto"/>
              <a:buAutoNum type="arabicPeriod"/>
            </a:pPr>
            <a:r>
              <a:rPr lang="es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Móvil: Considerar API RESTful + aplicación móvil nativa o PWA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	</a:t>
            </a:r>
            <a:endParaRPr/>
          </a:p>
        </p:txBody>
      </p:sp>
      <p:sp>
        <p:nvSpPr>
          <p:cNvPr id="74" name="Google Shape;74;p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5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Opción 2 (más rápida para MVP)</a:t>
            </a:r>
            <a:endParaRPr b="1" sz="15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s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Fullstack: Laravel (PHP) con MySQL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es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Ventaja: Desarrollo más rápido,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BASE DE DATOS REPLICADA</a:t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43875"/>
            <a:ext cx="8839199" cy="2899632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254050" y="4423100"/>
            <a:ext cx="4005300" cy="3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Producción: 6 meses de antigüedad.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4790525" y="4423100"/>
            <a:ext cx="4274700" cy="3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Histórico, consultas y análisis de datos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</a:rPr>
              <a:t>https://kinsta.com/es/blog/postgresql-replicacion/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25" lIns="72850" spcFirstLastPara="1" rIns="72850" wrap="square" tIns="36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88" name="Google Shape;88;p18"/>
          <p:cNvSpPr txBox="1"/>
          <p:nvPr/>
        </p:nvSpPr>
        <p:spPr>
          <a:xfrm>
            <a:off x="0" y="0"/>
            <a:ext cx="9103500" cy="4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88025" lIns="88025" spcFirstLastPara="1" rIns="88025" wrap="square" tIns="880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/>
              <a:t>MÓDULOS </a:t>
            </a:r>
            <a:endParaRPr sz="2700">
              <a:solidFill>
                <a:srgbClr val="000000"/>
              </a:solidFill>
            </a:endParaRPr>
          </a:p>
        </p:txBody>
      </p:sp>
      <p:graphicFrame>
        <p:nvGraphicFramePr>
          <p:cNvPr id="89" name="Google Shape;89;p18"/>
          <p:cNvGraphicFramePr/>
          <p:nvPr/>
        </p:nvGraphicFramePr>
        <p:xfrm>
          <a:off x="129775" y="5612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{9FE4E951-B890-4E08-BE89-0FD17AA7A977}</a:tableStyleId>
              </a:tblPr>
              <a:tblGrid>
                <a:gridCol w="2243425"/>
                <a:gridCol w="2243425"/>
                <a:gridCol w="2243425"/>
                <a:gridCol w="2243425"/>
              </a:tblGrid>
              <a:tr h="259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FF0000"/>
                          </a:solidFill>
                        </a:rPr>
                        <a:t>ADMISION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62200" marB="62200" marR="78200" marL="78200" anchor="ctr">
                    <a:lnL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FF0000"/>
                          </a:solidFill>
                        </a:rPr>
                        <a:t>MEDICO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62200" marB="62200" marR="78200" marL="78200" anchor="ctr">
                    <a:lnL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FF0000"/>
                          </a:solidFill>
                        </a:rPr>
                        <a:t>ADMINISTRATIVO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62200" marB="62200" marR="78200" marL="78200" anchor="ctr">
                    <a:lnL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FF0000"/>
                          </a:solidFill>
                        </a:rPr>
                        <a:t>admin</a:t>
                      </a:r>
                      <a:endParaRPr/>
                    </a:p>
                  </a:txBody>
                  <a:tcPr marT="62200" marB="62200" marR="78200" marL="78200" anchor="ctr">
                    <a:lnL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- Recepción</a:t>
                      </a:r>
                      <a:r>
                        <a:rPr lang="es" sz="1000"/>
                        <a:t> de </a:t>
                      </a:r>
                      <a:r>
                        <a:rPr lang="es" sz="1000"/>
                        <a:t>paquetes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</a:rPr>
                        <a:t>- Recepción de llamadas: policía, sien, otros efectores, etc.</a:t>
                      </a:r>
                      <a:endParaRPr sz="1000"/>
                    </a:p>
                  </a:txBody>
                  <a:tcPr marT="62200" marB="62200" marR="78200" marL="78200">
                    <a:lnL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- Módulo</a:t>
                      </a:r>
                      <a:r>
                        <a:rPr lang="es" sz="1000"/>
                        <a:t> de Atención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</a:rPr>
                        <a:t>- Prescripciones</a:t>
                      </a:r>
                      <a:r>
                        <a:rPr lang="es" sz="1000">
                          <a:solidFill>
                            <a:schemeClr val="dk1"/>
                          </a:solidFill>
                        </a:rPr>
                        <a:t> a enfermería</a:t>
                      </a:r>
                      <a:endParaRPr sz="1000"/>
                    </a:p>
                  </a:txBody>
                  <a:tcPr marT="62200" marB="62200" marR="78200" marL="78200">
                    <a:lnL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- Recupero</a:t>
                      </a:r>
                      <a:r>
                        <a:rPr lang="es" sz="1000"/>
                        <a:t> financiero</a:t>
                      </a:r>
                      <a:endParaRPr sz="1000"/>
                    </a:p>
                  </a:txBody>
                  <a:tcPr marT="62200" marB="62200" marR="78200" marL="78200">
                    <a:lnL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Configurar colores y tiempo de espera del triaje.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Configurar destinos: enfermería y médicos.</a:t>
                      </a:r>
                      <a:endParaRPr sz="1000"/>
                    </a:p>
                  </a:txBody>
                  <a:tcPr marT="62200" marB="62200" marR="78200" marL="78200">
                    <a:lnL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9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000">
                          <a:solidFill>
                            <a:srgbClr val="FF0000"/>
                          </a:solidFill>
                        </a:rPr>
                        <a:t>ENFERMERÍA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</a:rPr>
                        <a:t>- Triage de enfermería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</a:rPr>
                        <a:t>- Prescripciones médicas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</a:rPr>
                        <a:t>- Evoluciones sin indicaciones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</a:rPr>
                        <a:t> médicas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62200" marB="62200" marR="78200" marL="78200">
                    <a:lnL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</a:rPr>
                        <a:t>- Derivación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</a:rPr>
                        <a:t>- Solicitudes</a:t>
                      </a:r>
                      <a:r>
                        <a:rPr lang="es" sz="1000">
                          <a:solidFill>
                            <a:schemeClr val="dk1"/>
                          </a:solidFill>
                        </a:rPr>
                        <a:t> de estudios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</a:rPr>
                        <a:t>- Solicitud</a:t>
                      </a:r>
                      <a:r>
                        <a:rPr lang="es" sz="1000">
                          <a:solidFill>
                            <a:schemeClr val="dk1"/>
                          </a:solidFill>
                        </a:rPr>
                        <a:t> de laboratorios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</a:rPr>
                        <a:t>- Interconsultas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62200" marB="62200" marR="78200" marL="78200">
                    <a:lnL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t/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62200" marB="62200" marR="78200" marL="78200">
                    <a:lnL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Configurar dotación de médicos y enfermeros.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Configurar especialidades y disponibilidad horaria</a:t>
                      </a:r>
                      <a:r>
                        <a:rPr lang="es" sz="1000"/>
                        <a:t>.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Configurar ambula</a:t>
                      </a:r>
                      <a:endParaRPr sz="1000"/>
                    </a:p>
                  </a:txBody>
                  <a:tcPr marT="62200" marB="62200" marR="78200" marL="78200">
                    <a:lnL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9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FF0000"/>
                          </a:solidFill>
                        </a:rPr>
                        <a:t>PACIENTES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62200" marB="62200" marR="78200" marL="78200" anchor="ctr">
                    <a:lnL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</a:rPr>
                        <a:t>- Certificado</a:t>
                      </a:r>
                      <a:r>
                        <a:rPr lang="es" sz="1000">
                          <a:solidFill>
                            <a:schemeClr val="dk1"/>
                          </a:solidFill>
                        </a:rPr>
                        <a:t> de defunción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</a:rPr>
                        <a:t>- Receta</a:t>
                      </a:r>
                      <a:r>
                        <a:rPr lang="es" sz="1000">
                          <a:solidFill>
                            <a:schemeClr val="dk1"/>
                          </a:solidFill>
                        </a:rPr>
                        <a:t> electrónica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</a:rPr>
                        <a:t>- Retiro</a:t>
                      </a:r>
                      <a:r>
                        <a:rPr lang="es" sz="1000">
                          <a:solidFill>
                            <a:schemeClr val="dk1"/>
                          </a:solidFill>
                        </a:rPr>
                        <a:t> voluntario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62200" marB="62200" marR="78200" marL="78200">
                    <a:lnL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2200" marB="62200" marR="78200" marL="78200">
                    <a:lnL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2200" marB="62200" marR="78200" marL="78200">
                    <a:lnL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</a:rPr>
                        <a:t>Semáforo indicador del estado de la guardia.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</a:rPr>
                        <a:t>Sistema llamador de pacientes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62200" marB="62200" marR="78200" marL="78200">
                    <a:lnL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- Certificado</a:t>
                      </a:r>
                      <a:r>
                        <a:rPr lang="es" sz="1000"/>
                        <a:t> policial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- Notas</a:t>
                      </a:r>
                      <a:r>
                        <a:rPr lang="es" sz="1000"/>
                        <a:t> sin necesidad de diagnóstico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- Fuga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- Certificados</a:t>
                      </a:r>
                      <a:r>
                        <a:rPr lang="es" sz="1000"/>
                        <a:t> de atención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62200" marB="62200" marR="78200" marL="78200">
                    <a:lnL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2200" marB="62200" marR="78200" marL="78200">
                    <a:lnL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2200" marB="62200" marR="78200" marL="78200">
                    <a:lnL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62200" marB="62200" marR="78200" marL="78200">
                    <a:lnL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2200" marB="62200" marR="78200" marL="78200">
                    <a:lnL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2200" marB="62200" marR="78200" marL="78200">
                    <a:lnL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2200" marB="62200" marR="78200" marL="78200">
                    <a:lnL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62200" marB="62200" marR="78200" marL="78200">
                    <a:lnL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2200" marB="62200" marR="78200" marL="78200">
                    <a:lnL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2200" marB="62200" marR="78200" marL="78200">
                    <a:lnL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2200" marB="62200" marR="78200" marL="78200">
                    <a:lnL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900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PACIENTES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0" title="Captura de pantalla 2026-02-02 08392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2050" y="609400"/>
            <a:ext cx="7233326" cy="446005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0"/>
          <p:cNvSpPr txBox="1"/>
          <p:nvPr>
            <p:ph type="title"/>
          </p:nvPr>
        </p:nvSpPr>
        <p:spPr>
          <a:xfrm>
            <a:off x="240050" y="36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MONITOR EXTERNO DE GUARDIA</a:t>
            </a:r>
            <a:endParaRPr/>
          </a:p>
        </p:txBody>
      </p:sp>
      <p:sp>
        <p:nvSpPr>
          <p:cNvPr id="101" name="Google Shape;101;p20"/>
          <p:cNvSpPr txBox="1"/>
          <p:nvPr/>
        </p:nvSpPr>
        <p:spPr>
          <a:xfrm>
            <a:off x="1618975" y="3159175"/>
            <a:ext cx="1604700" cy="10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0000"/>
                </a:solidFill>
              </a:rPr>
              <a:t>Listado de pacientes llamados a consultorios</a:t>
            </a:r>
            <a:endParaRPr b="1" sz="1200">
              <a:solidFill>
                <a:srgbClr val="FF0000"/>
              </a:solidFill>
            </a:endParaRPr>
          </a:p>
        </p:txBody>
      </p:sp>
      <p:cxnSp>
        <p:nvCxnSpPr>
          <p:cNvPr id="102" name="Google Shape;102;p20"/>
          <p:cNvCxnSpPr/>
          <p:nvPr/>
        </p:nvCxnSpPr>
        <p:spPr>
          <a:xfrm flipH="1" rot="10800000">
            <a:off x="2156250" y="2342600"/>
            <a:ext cx="315300" cy="93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" name="Google Shape;103;p20"/>
          <p:cNvSpPr txBox="1"/>
          <p:nvPr/>
        </p:nvSpPr>
        <p:spPr>
          <a:xfrm>
            <a:off x="3968650" y="2571750"/>
            <a:ext cx="1905600" cy="6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0000"/>
                </a:solidFill>
              </a:rPr>
              <a:t>Estado </a:t>
            </a:r>
            <a:r>
              <a:rPr b="1" lang="es" sz="1200">
                <a:solidFill>
                  <a:srgbClr val="FF0000"/>
                </a:solidFill>
              </a:rPr>
              <a:t>de la Guardia</a:t>
            </a:r>
            <a:endParaRPr b="1" sz="1200">
              <a:solidFill>
                <a:srgbClr val="FF0000"/>
              </a:solidFill>
            </a:endParaRPr>
          </a:p>
        </p:txBody>
      </p:sp>
      <p:cxnSp>
        <p:nvCxnSpPr>
          <p:cNvPr id="104" name="Google Shape;104;p20"/>
          <p:cNvCxnSpPr/>
          <p:nvPr/>
        </p:nvCxnSpPr>
        <p:spPr>
          <a:xfrm flipH="1" rot="10800000">
            <a:off x="5573325" y="2675250"/>
            <a:ext cx="1053000" cy="7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" name="Google Shape;105;p20"/>
          <p:cNvSpPr txBox="1"/>
          <p:nvPr/>
        </p:nvSpPr>
        <p:spPr>
          <a:xfrm>
            <a:off x="4205050" y="3803725"/>
            <a:ext cx="17766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0000"/>
                </a:solidFill>
              </a:rPr>
              <a:t>Mensajes al paciente</a:t>
            </a:r>
            <a:endParaRPr b="1" sz="1200">
              <a:solidFill>
                <a:srgbClr val="FF0000"/>
              </a:solidFill>
            </a:endParaRPr>
          </a:p>
        </p:txBody>
      </p:sp>
      <p:cxnSp>
        <p:nvCxnSpPr>
          <p:cNvPr id="106" name="Google Shape;106;p20"/>
          <p:cNvCxnSpPr>
            <a:stCxn id="105" idx="2"/>
          </p:cNvCxnSpPr>
          <p:nvPr/>
        </p:nvCxnSpPr>
        <p:spPr>
          <a:xfrm flipH="1">
            <a:off x="4778050" y="4111825"/>
            <a:ext cx="315300" cy="58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628651" y="273845"/>
            <a:ext cx="7886700" cy="994200"/>
          </a:xfrm>
          <a:prstGeom prst="rect">
            <a:avLst/>
          </a:prstGeom>
        </p:spPr>
        <p:txBody>
          <a:bodyPr anchorCtr="0" anchor="ctr" bIns="36425" lIns="72850" spcFirstLastPara="1" rIns="72850" wrap="square" tIns="36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MONITOR EXTERNO DE GUARDIA</a:t>
            </a:r>
            <a:endParaRPr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628651" y="1369219"/>
            <a:ext cx="7886700" cy="3263400"/>
          </a:xfrm>
          <a:prstGeom prst="rect">
            <a:avLst/>
          </a:prstGeom>
        </p:spPr>
        <p:txBody>
          <a:bodyPr anchorCtr="0" anchor="t" bIns="36425" lIns="72850" spcFirstLastPara="1" rIns="72850" wrap="square" tIns="36425">
            <a:norm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s"/>
              <a:t>1-) SI HAY ALGUIEN EN SHOCKROOM -&gt; ROJO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2-) SI HAY PACIENTES EN TRAIGE ROJO O AMARILLO -&gt; ROJO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3-) SI HAY </a:t>
            </a:r>
            <a:r>
              <a:rPr lang="es"/>
              <a:t>MÁS</a:t>
            </a:r>
            <a:r>
              <a:rPr lang="es"/>
              <a:t> DE 10 PACIENTES SIN TRIAGE -&gt; ROJO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4-) SI HAY </a:t>
            </a:r>
            <a:r>
              <a:rPr lang="es"/>
              <a:t>MÁS</a:t>
            </a:r>
            <a:r>
              <a:rPr lang="es"/>
              <a:t> DE 20 PACIENTES VERDE -&gt; AMARILLO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LAS REGLAS DE COLORES DEL </a:t>
            </a:r>
            <a:r>
              <a:rPr lang="es"/>
              <a:t>SEMÁFORO</a:t>
            </a:r>
            <a:r>
              <a:rPr lang="es"/>
              <a:t> DEBEN SER CONFIGURABLES SEGÚN LA INSTITUCIÓN.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900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GESTION DE PACIENTES o ADMISION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900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ENFERMERIA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373925" y="116250"/>
            <a:ext cx="8357700" cy="564300"/>
          </a:xfrm>
          <a:prstGeom prst="rect">
            <a:avLst/>
          </a:prstGeom>
        </p:spPr>
        <p:txBody>
          <a:bodyPr anchorCtr="0" anchor="ctr" bIns="36425" lIns="72850" spcFirstLastPara="1" rIns="72850" wrap="square" tIns="36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40909"/>
              <a:buNone/>
            </a:pPr>
            <a:r>
              <a:rPr lang="es" sz="2420"/>
              <a:t>PROCESO ESTÁNDAR ATENCIÓN </a:t>
            </a:r>
            <a:r>
              <a:rPr lang="es" sz="2420"/>
              <a:t>ENFERMERÍA</a:t>
            </a:r>
            <a:r>
              <a:rPr lang="es" sz="2420"/>
              <a:t> SIMPLE</a:t>
            </a:r>
            <a:endParaRPr sz="2420"/>
          </a:p>
        </p:txBody>
      </p:sp>
      <p:pic>
        <p:nvPicPr>
          <p:cNvPr id="128" name="Google Shape;128;p24" title="HCR-AE-AMBULATORIO-CARRILES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11475"/>
            <a:ext cx="8579232" cy="4179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623475" y="94775"/>
            <a:ext cx="7886700" cy="564300"/>
          </a:xfrm>
          <a:prstGeom prst="rect">
            <a:avLst/>
          </a:prstGeom>
        </p:spPr>
        <p:txBody>
          <a:bodyPr anchorCtr="0" anchor="ctr" bIns="36425" lIns="72850" spcFirstLastPara="1" rIns="72850" wrap="square" tIns="36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40909"/>
              <a:buNone/>
            </a:pPr>
            <a:r>
              <a:rPr lang="es" sz="2420"/>
              <a:t>VARIACIÓN PROCESO ESTÁNDAR ATENCIÓN ENFERMERÍA SIMPLE</a:t>
            </a:r>
            <a:endParaRPr sz="2420"/>
          </a:p>
        </p:txBody>
      </p:sp>
      <p:pic>
        <p:nvPicPr>
          <p:cNvPr id="134" name="Google Shape;134;p25" title="HSENILLOSA-E-ALTA-CARRILES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550" y="1212650"/>
            <a:ext cx="8839200" cy="243058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5"/>
          <p:cNvSpPr txBox="1"/>
          <p:nvPr/>
        </p:nvSpPr>
        <p:spPr>
          <a:xfrm>
            <a:off x="6798300" y="3123350"/>
            <a:ext cx="17838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FF0000"/>
                </a:solidFill>
              </a:rPr>
              <a:t>SENILLOSA</a:t>
            </a:r>
            <a:endParaRPr b="1"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title"/>
          </p:nvPr>
        </p:nvSpPr>
        <p:spPr>
          <a:xfrm>
            <a:off x="311700" y="72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Destino Pacientes</a:t>
            </a:r>
            <a:endParaRPr/>
          </a:p>
        </p:txBody>
      </p:sp>
      <p:sp>
        <p:nvSpPr>
          <p:cNvPr id="141" name="Google Shape;141;p26"/>
          <p:cNvSpPr txBox="1"/>
          <p:nvPr>
            <p:ph idx="1" type="body"/>
          </p:nvPr>
        </p:nvSpPr>
        <p:spPr>
          <a:xfrm>
            <a:off x="311700" y="888300"/>
            <a:ext cx="3999900" cy="40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Enfermería	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Sala de espera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Pasillo interno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Shockroom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Procedimientos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Sala de Tto.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consultorio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Observación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cns procedimientos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Nebulizaciones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Alta Enfermería - Finaliza atención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>
            <p:ph type="title"/>
          </p:nvPr>
        </p:nvSpPr>
        <p:spPr>
          <a:xfrm>
            <a:off x="628651" y="273845"/>
            <a:ext cx="7886700" cy="994200"/>
          </a:xfrm>
          <a:prstGeom prst="rect">
            <a:avLst/>
          </a:prstGeom>
        </p:spPr>
        <p:txBody>
          <a:bodyPr anchorCtr="0" anchor="ctr" bIns="36425" lIns="72850" spcFirstLastPara="1" rIns="72850" wrap="square" tIns="36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Sugerencias </a:t>
            </a:r>
            <a:r>
              <a:rPr lang="es"/>
              <a:t>Módulo Enfermería</a:t>
            </a:r>
            <a:r>
              <a:rPr lang="es"/>
              <a:t>	</a:t>
            </a:r>
            <a:endParaRPr/>
          </a:p>
        </p:txBody>
      </p:sp>
      <p:sp>
        <p:nvSpPr>
          <p:cNvPr id="147" name="Google Shape;147;p27"/>
          <p:cNvSpPr txBox="1"/>
          <p:nvPr>
            <p:ph idx="1" type="body"/>
          </p:nvPr>
        </p:nvSpPr>
        <p:spPr>
          <a:xfrm>
            <a:off x="628651" y="1369219"/>
            <a:ext cx="7886700" cy="3263400"/>
          </a:xfrm>
          <a:prstGeom prst="rect">
            <a:avLst/>
          </a:prstGeom>
        </p:spPr>
        <p:txBody>
          <a:bodyPr anchorCtr="0" anchor="t" bIns="36425" lIns="72850" spcFirstLastPara="1" rIns="72850" wrap="square" tIns="36425">
            <a:norm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s"/>
              <a:t>No usar </a:t>
            </a:r>
            <a:r>
              <a:rPr lang="es"/>
              <a:t>diagnóstico.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Utilizar </a:t>
            </a:r>
            <a:r>
              <a:rPr lang="es"/>
              <a:t>motivo</a:t>
            </a:r>
            <a:r>
              <a:rPr lang="es"/>
              <a:t> de </a:t>
            </a:r>
            <a:r>
              <a:rPr lang="es"/>
              <a:t>consulta</a:t>
            </a:r>
            <a:r>
              <a:rPr lang="es"/>
              <a:t> ligado a </a:t>
            </a:r>
            <a:r>
              <a:rPr lang="es"/>
              <a:t>SNOMED.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/>
          <p:nvPr/>
        </p:nvSpPr>
        <p:spPr>
          <a:xfrm>
            <a:off x="71625" y="601750"/>
            <a:ext cx="8997600" cy="444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Navbar Menu pulldown</a:t>
            </a:r>
            <a:endParaRPr/>
          </a:p>
        </p:txBody>
      </p:sp>
      <p:sp>
        <p:nvSpPr>
          <p:cNvPr id="153" name="Google Shape;153;p28"/>
          <p:cNvSpPr/>
          <p:nvPr/>
        </p:nvSpPr>
        <p:spPr>
          <a:xfrm>
            <a:off x="93125" y="1110375"/>
            <a:ext cx="6297000" cy="3610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Área</a:t>
            </a:r>
            <a:r>
              <a:rPr lang="es"/>
              <a:t> triagecon desplazamiento vertical para facilitar la escritura y lectura completa de la </a:t>
            </a:r>
            <a:r>
              <a:rPr lang="es"/>
              <a:t>atención</a:t>
            </a:r>
            <a:r>
              <a:rPr lang="es"/>
              <a:t> en una sola pantalla, </a:t>
            </a:r>
            <a:r>
              <a:rPr lang="es"/>
              <a:t>más óptima</a:t>
            </a:r>
            <a:r>
              <a:rPr lang="es"/>
              <a:t> para dispositivos </a:t>
            </a:r>
            <a:r>
              <a:rPr lang="es"/>
              <a:t>móviles.</a:t>
            </a:r>
            <a:endParaRPr/>
          </a:p>
        </p:txBody>
      </p:sp>
      <p:sp>
        <p:nvSpPr>
          <p:cNvPr id="154" name="Google Shape;154;p28"/>
          <p:cNvSpPr/>
          <p:nvPr/>
        </p:nvSpPr>
        <p:spPr>
          <a:xfrm>
            <a:off x="6425800" y="1110375"/>
            <a:ext cx="2629200" cy="3610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2"/>
                </a:solidFill>
              </a:rPr>
              <a:t>Los N Triage de guardia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2"/>
                </a:solidFill>
              </a:rPr>
              <a:t>Las últimas </a:t>
            </a:r>
            <a:r>
              <a:rPr b="1" lang="es">
                <a:solidFill>
                  <a:schemeClr val="dk2"/>
                </a:solidFill>
              </a:rPr>
              <a:t>N </a:t>
            </a:r>
            <a:r>
              <a:rPr lang="es">
                <a:solidFill>
                  <a:schemeClr val="dk2"/>
                </a:solidFill>
              </a:rPr>
              <a:t>anteriores en guardia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2"/>
                </a:solidFill>
              </a:rPr>
              <a:t>Los últimos </a:t>
            </a:r>
            <a:r>
              <a:rPr b="1" lang="es">
                <a:solidFill>
                  <a:schemeClr val="dk2"/>
                </a:solidFill>
              </a:rPr>
              <a:t>N </a:t>
            </a:r>
            <a:r>
              <a:rPr lang="es">
                <a:solidFill>
                  <a:schemeClr val="dk2"/>
                </a:solidFill>
              </a:rPr>
              <a:t>retiros de medicamentos</a:t>
            </a:r>
            <a:endParaRPr b="1"/>
          </a:p>
        </p:txBody>
      </p:sp>
      <p:sp>
        <p:nvSpPr>
          <p:cNvPr id="155" name="Google Shape;155;p28"/>
          <p:cNvSpPr txBox="1"/>
          <p:nvPr>
            <p:ph type="title"/>
          </p:nvPr>
        </p:nvSpPr>
        <p:spPr>
          <a:xfrm>
            <a:off x="182775" y="0"/>
            <a:ext cx="8872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Interfaz enfermero.</a:t>
            </a:r>
            <a:endParaRPr/>
          </a:p>
        </p:txBody>
      </p:sp>
      <p:sp>
        <p:nvSpPr>
          <p:cNvPr id="156" name="Google Shape;156;p28"/>
          <p:cNvSpPr/>
          <p:nvPr/>
        </p:nvSpPr>
        <p:spPr>
          <a:xfrm>
            <a:off x="93975" y="4720975"/>
            <a:ext cx="8952900" cy="33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8"/>
          <p:cNvSpPr/>
          <p:nvPr/>
        </p:nvSpPr>
        <p:spPr>
          <a:xfrm>
            <a:off x="143275" y="4746025"/>
            <a:ext cx="1002900" cy="286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Cancelar</a:t>
            </a:r>
            <a:endParaRPr/>
          </a:p>
        </p:txBody>
      </p:sp>
      <p:sp>
        <p:nvSpPr>
          <p:cNvPr id="158" name="Google Shape;158;p28"/>
          <p:cNvSpPr/>
          <p:nvPr/>
        </p:nvSpPr>
        <p:spPr>
          <a:xfrm>
            <a:off x="1219775" y="4746025"/>
            <a:ext cx="1002900" cy="286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Grabar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/>
          <p:nvPr>
            <p:ph idx="11" type="ftr"/>
          </p:nvPr>
        </p:nvSpPr>
        <p:spPr>
          <a:xfrm>
            <a:off x="1490768" y="3872787"/>
            <a:ext cx="6152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25" lIns="72850" spcFirstLastPara="1" rIns="72850" wrap="square" tIns="36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2B3E4C"/>
                </a:solidFill>
                <a:latin typeface="Calibri"/>
                <a:ea typeface="Calibri"/>
                <a:cs typeface="Calibri"/>
                <a:sym typeface="Calibri"/>
              </a:rPr>
              <a:t>Dirección Provincial de Gestión de la Información  |  sisprovguardia@gmail.com  |  2995359045</a:t>
            </a:r>
            <a:endParaRPr sz="1000">
              <a:solidFill>
                <a:srgbClr val="2B3E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9"/>
          <p:cNvSpPr txBox="1"/>
          <p:nvPr/>
        </p:nvSpPr>
        <p:spPr>
          <a:xfrm>
            <a:off x="221313" y="0"/>
            <a:ext cx="88773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88750" lIns="88750" spcFirstLastPara="1" rIns="88750" wrap="square" tIns="88750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1500"/>
              </a:spcBef>
              <a:spcAft>
                <a:spcPts val="800"/>
              </a:spcAft>
              <a:buSzPts val="700"/>
              <a:buNone/>
            </a:pPr>
            <a:r>
              <a:rPr lang="es" sz="1500">
                <a:solidFill>
                  <a:srgbClr val="001D35"/>
                </a:solidFill>
                <a:highlight>
                  <a:srgbClr val="FFFFFF"/>
                </a:highlight>
              </a:rPr>
              <a:t>DICCIONARIO DE DATOS</a:t>
            </a:r>
            <a:br>
              <a:rPr lang="es" sz="1500">
                <a:solidFill>
                  <a:srgbClr val="001D35"/>
                </a:solidFill>
                <a:highlight>
                  <a:srgbClr val="FFFFFF"/>
                </a:highlight>
              </a:rPr>
            </a:br>
            <a:r>
              <a:rPr lang="es" sz="1500">
                <a:solidFill>
                  <a:srgbClr val="001D35"/>
                </a:solidFill>
                <a:highlight>
                  <a:srgbClr val="FFFFFF"/>
                </a:highlight>
              </a:rPr>
              <a:t>TIEMPOS DE ESPERA POR COLOR (REFERENCIA GENERAL)</a:t>
            </a:r>
            <a:endParaRPr sz="1500">
              <a:solidFill>
                <a:srgbClr val="001D35"/>
              </a:solidFill>
              <a:highlight>
                <a:srgbClr val="FFFFFF"/>
              </a:highlight>
            </a:endParaRPr>
          </a:p>
        </p:txBody>
      </p:sp>
      <p:sp>
        <p:nvSpPr>
          <p:cNvPr id="165" name="Google Shape;165;p29"/>
          <p:cNvSpPr txBox="1"/>
          <p:nvPr/>
        </p:nvSpPr>
        <p:spPr>
          <a:xfrm>
            <a:off x="266577" y="889174"/>
            <a:ext cx="8877300" cy="28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8750" lIns="88750" spcFirstLastPara="1" rIns="88750" wrap="square" tIns="88750">
            <a:normAutofit lnSpcReduction="10000"/>
          </a:bodyPr>
          <a:lstStyle/>
          <a:p>
            <a:pPr indent="-304800" lvl="0" marL="4445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A0A0A"/>
              </a:buClr>
              <a:buSzPts val="1200"/>
              <a:buChar char="●"/>
            </a:pPr>
            <a:r>
              <a:rPr lang="es" sz="1200">
                <a:solidFill>
                  <a:srgbClr val="0A0A0A"/>
                </a:solidFill>
                <a:highlight>
                  <a:srgbClr val="FFFFFF"/>
                </a:highlight>
              </a:rPr>
              <a:t>🟥 Rojo (Reanimación/Emergencia vital): </a:t>
            </a:r>
            <a:r>
              <a:rPr b="1" lang="es" sz="1200">
                <a:solidFill>
                  <a:srgbClr val="FF0000"/>
                </a:solidFill>
                <a:highlight>
                  <a:srgbClr val="FFFFFF"/>
                </a:highlight>
              </a:rPr>
              <a:t>Atención inmediata (0 minutos).</a:t>
            </a:r>
            <a:r>
              <a:rPr lang="es" sz="1200">
                <a:solidFill>
                  <a:srgbClr val="0A0A0A"/>
                </a:solidFill>
                <a:highlight>
                  <a:srgbClr val="FFFFFF"/>
                </a:highlight>
              </a:rPr>
              <a:t> Riesgo de vida, como paro cardiorrespiratorio.</a:t>
            </a:r>
            <a:endParaRPr sz="12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048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Char char="●"/>
            </a:pPr>
            <a:r>
              <a:rPr lang="es" sz="1200">
                <a:solidFill>
                  <a:srgbClr val="0A0A0A"/>
                </a:solidFill>
                <a:highlight>
                  <a:srgbClr val="FFFFFF"/>
                </a:highlight>
              </a:rPr>
              <a:t>🟧 Naranja (Emergencia): Atención rápida, </a:t>
            </a:r>
            <a:r>
              <a:rPr b="1" lang="es" sz="1200">
                <a:solidFill>
                  <a:srgbClr val="FF0000"/>
                </a:solidFill>
                <a:highlight>
                  <a:srgbClr val="FFFFFF"/>
                </a:highlight>
              </a:rPr>
              <a:t>máximo 10-15 minutos</a:t>
            </a:r>
            <a:r>
              <a:rPr lang="es" sz="1200">
                <a:solidFill>
                  <a:srgbClr val="0A0A0A"/>
                </a:solidFill>
                <a:highlight>
                  <a:srgbClr val="FFFFFF"/>
                </a:highlight>
              </a:rPr>
              <a:t>. Ej: Shock, fractura expuesta.</a:t>
            </a:r>
            <a:endParaRPr sz="12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048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Char char="●"/>
            </a:pPr>
            <a:r>
              <a:rPr lang="es" sz="1200">
                <a:solidFill>
                  <a:srgbClr val="0A0A0A"/>
                </a:solidFill>
                <a:highlight>
                  <a:srgbClr val="FFFFFF"/>
                </a:highlight>
              </a:rPr>
              <a:t>🟨 Amarillo (Urgencia moderada): </a:t>
            </a:r>
            <a:r>
              <a:rPr b="1" lang="es" sz="1200">
                <a:solidFill>
                  <a:srgbClr val="FF0000"/>
                </a:solidFill>
                <a:highlight>
                  <a:srgbClr val="FFFFFF"/>
                </a:highlight>
              </a:rPr>
              <a:t>Atención en aproximadamente 30-60 minutos</a:t>
            </a:r>
            <a:r>
              <a:rPr lang="es" sz="1200">
                <a:solidFill>
                  <a:srgbClr val="0A0A0A"/>
                </a:solidFill>
                <a:highlight>
                  <a:srgbClr val="FFFFFF"/>
                </a:highlight>
              </a:rPr>
              <a:t>. Ej: Dolor abdominal, herida sin shock.</a:t>
            </a:r>
            <a:endParaRPr sz="12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048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Char char="●"/>
            </a:pPr>
            <a:r>
              <a:rPr lang="es" sz="1200">
                <a:solidFill>
                  <a:srgbClr val="0A0A0A"/>
                </a:solidFill>
                <a:highlight>
                  <a:srgbClr val="FFFFFF"/>
                </a:highlight>
              </a:rPr>
              <a:t>🟢 Verde (Urgencia menor): </a:t>
            </a:r>
            <a:r>
              <a:rPr b="1" lang="es" sz="1200">
                <a:solidFill>
                  <a:srgbClr val="FF0000"/>
                </a:solidFill>
                <a:highlight>
                  <a:srgbClr val="FFFFFF"/>
                </a:highlight>
              </a:rPr>
              <a:t>Espera de hasta 2 horas</a:t>
            </a:r>
            <a:r>
              <a:rPr lang="es" sz="1200">
                <a:solidFill>
                  <a:srgbClr val="0A0A0A"/>
                </a:solidFill>
                <a:highlight>
                  <a:srgbClr val="FFFFFF"/>
                </a:highlight>
              </a:rPr>
              <a:t>. Ej: Esguince, fiebre, vómitos.</a:t>
            </a:r>
            <a:endParaRPr sz="12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048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Char char="●"/>
            </a:pPr>
            <a:r>
              <a:rPr lang="es" sz="1200">
                <a:solidFill>
                  <a:srgbClr val="0A0A0A"/>
                </a:solidFill>
                <a:highlight>
                  <a:srgbClr val="FFFFFF"/>
                </a:highlight>
              </a:rPr>
              <a:t>🔵 Azul (Sin urgencia): Puede esperar varias horas </a:t>
            </a:r>
            <a:r>
              <a:rPr b="1" lang="es" sz="1200">
                <a:solidFill>
                  <a:srgbClr val="FF0000"/>
                </a:solidFill>
                <a:highlight>
                  <a:srgbClr val="FFFFFF"/>
                </a:highlight>
              </a:rPr>
              <a:t>(hasta 4 horas)</a:t>
            </a:r>
            <a:r>
              <a:rPr lang="es" sz="1200">
                <a:solidFill>
                  <a:srgbClr val="0A0A0A"/>
                </a:solidFill>
                <a:highlight>
                  <a:srgbClr val="FFFFFF"/>
                </a:highlight>
              </a:rPr>
              <a:t> o ser derivado a atención primaria. Ej: Resfrío, control rutinario. </a:t>
            </a:r>
            <a:endParaRPr sz="12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23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0"/>
          <p:cNvSpPr txBox="1"/>
          <p:nvPr>
            <p:ph idx="11" type="ftr"/>
          </p:nvPr>
        </p:nvSpPr>
        <p:spPr>
          <a:xfrm>
            <a:off x="1490768" y="3872787"/>
            <a:ext cx="6152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425" lIns="72850" spcFirstLastPara="1" rIns="72850" wrap="square" tIns="36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2B3E4C"/>
                </a:solidFill>
                <a:latin typeface="Calibri"/>
                <a:ea typeface="Calibri"/>
                <a:cs typeface="Calibri"/>
                <a:sym typeface="Calibri"/>
              </a:rPr>
              <a:t>Dirección Provincial de Gestión de la Información  |  sisprovguardia@gmail.com  |  2995359045</a:t>
            </a:r>
            <a:endParaRPr sz="1000">
              <a:solidFill>
                <a:srgbClr val="2B3E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30"/>
          <p:cNvSpPr txBox="1"/>
          <p:nvPr/>
        </p:nvSpPr>
        <p:spPr>
          <a:xfrm>
            <a:off x="194138" y="0"/>
            <a:ext cx="88773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88750" lIns="88750" spcFirstLastPara="1" rIns="88750" wrap="square" tIns="8875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01D35"/>
                </a:solidFill>
                <a:highlight>
                  <a:srgbClr val="FFFFFF"/>
                </a:highlight>
              </a:rPr>
              <a:t>DICCIONARIO DE DATOS</a:t>
            </a:r>
            <a:br>
              <a:rPr lang="es" sz="1500">
                <a:solidFill>
                  <a:srgbClr val="001D35"/>
                </a:solidFill>
                <a:highlight>
                  <a:srgbClr val="FFFFFF"/>
                </a:highlight>
              </a:rPr>
            </a:br>
            <a:r>
              <a:rPr lang="es" sz="1500">
                <a:solidFill>
                  <a:srgbClr val="001D35"/>
                </a:solidFill>
                <a:highlight>
                  <a:srgbClr val="FFFFFF"/>
                </a:highlight>
              </a:rPr>
              <a:t>LA ESCALA DE COMA DE GLASGOW </a:t>
            </a:r>
            <a:endParaRPr sz="1500">
              <a:solidFill>
                <a:srgbClr val="001D35"/>
              </a:solidFill>
              <a:highlight>
                <a:srgbClr val="FFFFFF"/>
              </a:highlight>
            </a:endParaRPr>
          </a:p>
        </p:txBody>
      </p:sp>
      <p:sp>
        <p:nvSpPr>
          <p:cNvPr id="172" name="Google Shape;172;p30"/>
          <p:cNvSpPr txBox="1"/>
          <p:nvPr/>
        </p:nvSpPr>
        <p:spPr>
          <a:xfrm>
            <a:off x="266577" y="889174"/>
            <a:ext cx="4167600" cy="28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8750" lIns="88750" spcFirstLastPara="1" rIns="88750" wrap="square" tIns="88750">
            <a:normAutofit fontScale="25000" lnSpcReduction="20000"/>
          </a:bodyPr>
          <a:lstStyle/>
          <a:p>
            <a:pPr indent="0" lvl="0" marL="0" rtl="0" algn="l">
              <a:lnSpc>
                <a:spcPct val="14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s" sz="3300">
                <a:solidFill>
                  <a:srgbClr val="001D35"/>
                </a:solidFill>
                <a:highlight>
                  <a:srgbClr val="FFFFFF"/>
                </a:highlight>
              </a:rPr>
              <a:t>Componentes de la Escala de Glasgow</a:t>
            </a:r>
            <a:endParaRPr sz="33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-280987" lvl="0" marL="4445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●"/>
            </a:pPr>
            <a:r>
              <a:rPr lang="es" sz="3300" u="sng">
                <a:solidFill>
                  <a:srgbClr val="0097A7"/>
                </a:solidFill>
                <a:highlight>
                  <a:srgbClr val="FFFFFF"/>
                </a:highlight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Apertura Ocular</a:t>
            </a:r>
            <a:r>
              <a:rPr lang="es" sz="3300">
                <a:solidFill>
                  <a:srgbClr val="0A0A0A"/>
                </a:solidFill>
                <a:highlight>
                  <a:srgbClr val="FFFFFF"/>
                </a:highlight>
              </a:rPr>
              <a:t> (4 puntos):</a:t>
            </a:r>
            <a:endParaRPr sz="33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280987" lvl="1" marL="889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es" sz="3300">
                <a:solidFill>
                  <a:srgbClr val="0A0A0A"/>
                </a:solidFill>
                <a:highlight>
                  <a:srgbClr val="FFFFFF"/>
                </a:highlight>
              </a:rPr>
              <a:t>4: Espontánea.</a:t>
            </a:r>
            <a:endParaRPr sz="33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280987" lvl="1" marL="889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es" sz="3300">
                <a:solidFill>
                  <a:srgbClr val="0A0A0A"/>
                </a:solidFill>
                <a:highlight>
                  <a:srgbClr val="FFFFFF"/>
                </a:highlight>
              </a:rPr>
              <a:t>3: Al hablar.</a:t>
            </a:r>
            <a:endParaRPr sz="33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280987" lvl="1" marL="889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es" sz="3300">
                <a:solidFill>
                  <a:srgbClr val="0A0A0A"/>
                </a:solidFill>
                <a:highlight>
                  <a:srgbClr val="FFFFFF"/>
                </a:highlight>
              </a:rPr>
              <a:t>2: Al dolor.</a:t>
            </a:r>
            <a:endParaRPr sz="33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280987" lvl="1" marL="889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es" sz="3300">
                <a:solidFill>
                  <a:srgbClr val="0A0A0A"/>
                </a:solidFill>
                <a:highlight>
                  <a:srgbClr val="FFFFFF"/>
                </a:highlight>
              </a:rPr>
              <a:t>1: No abre.</a:t>
            </a:r>
            <a:endParaRPr sz="33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280987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●"/>
            </a:pPr>
            <a:r>
              <a:rPr lang="es" sz="3300" u="sng">
                <a:solidFill>
                  <a:srgbClr val="0097A7"/>
                </a:solidFill>
                <a:highlight>
                  <a:srgbClr val="FFFFFF"/>
                </a:highlight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Respuesta Verbal</a:t>
            </a:r>
            <a:r>
              <a:rPr lang="es" sz="3300">
                <a:solidFill>
                  <a:srgbClr val="0A0A0A"/>
                </a:solidFill>
                <a:highlight>
                  <a:srgbClr val="FFFFFF"/>
                </a:highlight>
              </a:rPr>
              <a:t> (5 puntos):</a:t>
            </a:r>
            <a:endParaRPr sz="33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280987" lvl="1" marL="889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es" sz="3300">
                <a:solidFill>
                  <a:srgbClr val="0A0A0A"/>
                </a:solidFill>
                <a:highlight>
                  <a:srgbClr val="FFFFFF"/>
                </a:highlight>
              </a:rPr>
              <a:t>5: Orientado y coherente.</a:t>
            </a:r>
            <a:endParaRPr sz="33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280987" lvl="1" marL="889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es" sz="3300">
                <a:solidFill>
                  <a:srgbClr val="0A0A0A"/>
                </a:solidFill>
                <a:highlight>
                  <a:srgbClr val="FFFFFF"/>
                </a:highlight>
              </a:rPr>
              <a:t>4: Desorientado (confuso).</a:t>
            </a:r>
            <a:endParaRPr sz="33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280987" lvl="1" marL="889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es" sz="3300">
                <a:solidFill>
                  <a:srgbClr val="0A0A0A"/>
                </a:solidFill>
                <a:highlight>
                  <a:srgbClr val="FFFFFF"/>
                </a:highlight>
              </a:rPr>
              <a:t>3: Palabras inapropiadas.</a:t>
            </a:r>
            <a:endParaRPr sz="33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280987" lvl="1" marL="889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es" sz="3300">
                <a:solidFill>
                  <a:srgbClr val="0A0A0A"/>
                </a:solidFill>
                <a:highlight>
                  <a:srgbClr val="FFFFFF"/>
                </a:highlight>
              </a:rPr>
              <a:t>2: Sonidos incomprensibles.</a:t>
            </a:r>
            <a:endParaRPr sz="33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280987" lvl="1" marL="889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es" sz="3300">
                <a:solidFill>
                  <a:srgbClr val="0A0A0A"/>
                </a:solidFill>
                <a:highlight>
                  <a:srgbClr val="FFFFFF"/>
                </a:highlight>
              </a:rPr>
              <a:t>1: No responde.</a:t>
            </a:r>
            <a:endParaRPr sz="33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280987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●"/>
            </a:pPr>
            <a:r>
              <a:rPr lang="es" sz="3300" u="sng">
                <a:solidFill>
                  <a:srgbClr val="0097A7"/>
                </a:solidFill>
                <a:highlight>
                  <a:srgbClr val="FFFFFF"/>
                </a:highlight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Respuesta Motora</a:t>
            </a:r>
            <a:r>
              <a:rPr lang="es" sz="3300">
                <a:solidFill>
                  <a:srgbClr val="0A0A0A"/>
                </a:solidFill>
                <a:highlight>
                  <a:srgbClr val="FFFFFF"/>
                </a:highlight>
              </a:rPr>
              <a:t> (6 puntos):</a:t>
            </a:r>
            <a:endParaRPr sz="33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280987" lvl="1" marL="889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es" sz="3300">
                <a:solidFill>
                  <a:srgbClr val="0A0A0A"/>
                </a:solidFill>
                <a:highlight>
                  <a:srgbClr val="FFFFFF"/>
                </a:highlight>
              </a:rPr>
              <a:t>6: Obedece órdenes.</a:t>
            </a:r>
            <a:endParaRPr sz="33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280987" lvl="1" marL="889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es" sz="3300">
                <a:solidFill>
                  <a:srgbClr val="0A0A0A"/>
                </a:solidFill>
                <a:highlight>
                  <a:srgbClr val="FFFFFF"/>
                </a:highlight>
              </a:rPr>
              <a:t>5: Localiza el dolor.</a:t>
            </a:r>
            <a:endParaRPr sz="33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280987" lvl="1" marL="889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es" sz="3300">
                <a:solidFill>
                  <a:srgbClr val="0A0A0A"/>
                </a:solidFill>
                <a:highlight>
                  <a:srgbClr val="FFFFFF"/>
                </a:highlight>
              </a:rPr>
              <a:t>4: Retira ante el dolor.</a:t>
            </a:r>
            <a:endParaRPr sz="33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280987" lvl="1" marL="889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es" sz="3300">
                <a:solidFill>
                  <a:srgbClr val="0A0A0A"/>
                </a:solidFill>
                <a:highlight>
                  <a:srgbClr val="FFFFFF"/>
                </a:highlight>
              </a:rPr>
              <a:t>3: Flexión anormal (decorticación).</a:t>
            </a:r>
            <a:endParaRPr sz="33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280987" lvl="1" marL="889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es" sz="3300">
                <a:solidFill>
                  <a:srgbClr val="0A0A0A"/>
                </a:solidFill>
                <a:highlight>
                  <a:srgbClr val="FFFFFF"/>
                </a:highlight>
              </a:rPr>
              <a:t>2: Extensión anormal (descerebración).</a:t>
            </a:r>
            <a:endParaRPr sz="33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280987" lvl="1" marL="889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es" sz="3300">
                <a:solidFill>
                  <a:srgbClr val="0A0A0A"/>
                </a:solidFill>
                <a:highlight>
                  <a:srgbClr val="FFFFFF"/>
                </a:highlight>
              </a:rPr>
              <a:t>1: No hay respuesta motora. </a:t>
            </a:r>
            <a:endParaRPr sz="33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47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595959"/>
              </a:solidFill>
            </a:endParaRPr>
          </a:p>
        </p:txBody>
      </p:sp>
      <p:sp>
        <p:nvSpPr>
          <p:cNvPr id="173" name="Google Shape;173;p30"/>
          <p:cNvSpPr txBox="1"/>
          <p:nvPr/>
        </p:nvSpPr>
        <p:spPr>
          <a:xfrm>
            <a:off x="4976593" y="889174"/>
            <a:ext cx="4167600" cy="28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8750" lIns="88750" spcFirstLastPara="1" rIns="88750" wrap="square" tIns="8875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rgbClr val="000000"/>
                </a:solidFill>
              </a:rPr>
              <a:t>La Escala de Coma de Glasgow (ECG) </a:t>
            </a:r>
            <a:r>
              <a:rPr lang="es" sz="1200">
                <a:solidFill>
                  <a:srgbClr val="001D35"/>
                </a:solidFill>
              </a:rPr>
              <a:t>es una herramienta esencial en el </a:t>
            </a:r>
            <a:r>
              <a:rPr i="1" lang="es" sz="1200">
                <a:solidFill>
                  <a:srgbClr val="001D35"/>
                </a:solidFill>
              </a:rPr>
              <a:t>triage</a:t>
            </a:r>
            <a:r>
              <a:rPr lang="es" sz="1200">
                <a:solidFill>
                  <a:srgbClr val="001D35"/>
                </a:solidFill>
              </a:rPr>
              <a:t> y la medicina de emergencia para evaluar el nivel de conciencia de un paciente mediante tres respuestas (ocular, verbal, motora), sumando puntos de </a:t>
            </a:r>
            <a:r>
              <a:rPr b="1" lang="es" sz="1200">
                <a:solidFill>
                  <a:srgbClr val="FF0000"/>
                </a:solidFill>
              </a:rPr>
              <a:t>3 a 15</a:t>
            </a:r>
            <a:r>
              <a:rPr lang="es" sz="1200">
                <a:solidFill>
                  <a:srgbClr val="001D35"/>
                </a:solidFill>
              </a:rPr>
              <a:t> para determinar gravedad: 13-15 (leve), 9-12 (moderado), 3-8 (grave)</a:t>
            </a:r>
            <a:r>
              <a:rPr lang="es" sz="1200">
                <a:solidFill>
                  <a:srgbClr val="0A0A0A"/>
                </a:solidFill>
                <a:highlight>
                  <a:srgbClr val="FFFFFF"/>
                </a:highlight>
              </a:rPr>
              <a:t>, ayudando a priorizar la atención en traumatismos craneoencefálicos y otras afecciones neurológicas. </a:t>
            </a:r>
            <a:endParaRPr sz="14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900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MEDICO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 txBox="1"/>
          <p:nvPr>
            <p:ph type="title"/>
          </p:nvPr>
        </p:nvSpPr>
        <p:spPr>
          <a:xfrm>
            <a:off x="311700" y="72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Destino Pacientes</a:t>
            </a:r>
            <a:endParaRPr/>
          </a:p>
        </p:txBody>
      </p:sp>
      <p:sp>
        <p:nvSpPr>
          <p:cNvPr id="184" name="Google Shape;184;p32"/>
          <p:cNvSpPr txBox="1"/>
          <p:nvPr>
            <p:ph idx="2" type="body"/>
          </p:nvPr>
        </p:nvSpPr>
        <p:spPr>
          <a:xfrm>
            <a:off x="85975" y="888300"/>
            <a:ext cx="8746200" cy="392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Médicos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Alta - Finaliza atención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Retiro voluntario - Finaliza atención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Fuga - Finaliza atención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Defunción - Finaliza atención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Internación - Finaliza atención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Derivación - Finaliza atención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Boxes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shock room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Atención en el lugar de la llamada (prehospitalario)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s"/>
              <a:t>Rechazo traslado al hospital.(prehospitalario)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3"/>
          <p:cNvSpPr txBox="1"/>
          <p:nvPr>
            <p:ph type="title"/>
          </p:nvPr>
        </p:nvSpPr>
        <p:spPr>
          <a:xfrm>
            <a:off x="623475" y="94775"/>
            <a:ext cx="7886700" cy="564300"/>
          </a:xfrm>
          <a:prstGeom prst="rect">
            <a:avLst/>
          </a:prstGeom>
        </p:spPr>
        <p:txBody>
          <a:bodyPr anchorCtr="0" anchor="ctr" bIns="36425" lIns="72850" spcFirstLastPara="1" rIns="72850" wrap="square" tIns="36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420"/>
              <a:t>PROCESO </a:t>
            </a:r>
            <a:r>
              <a:rPr lang="es" sz="2420"/>
              <a:t>ESTÁNDAR ATENCIÓN MÉDICA SIMPLE</a:t>
            </a:r>
            <a:endParaRPr sz="2420"/>
          </a:p>
        </p:txBody>
      </p:sp>
      <p:pic>
        <p:nvPicPr>
          <p:cNvPr id="190" name="Google Shape;190;p33" title="HHH-GEM-CONSULTA-SIMPLE-CARRILES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575" y="737850"/>
            <a:ext cx="8732499" cy="413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4"/>
          <p:cNvSpPr txBox="1"/>
          <p:nvPr>
            <p:ph type="title"/>
          </p:nvPr>
        </p:nvSpPr>
        <p:spPr>
          <a:xfrm>
            <a:off x="623475" y="94775"/>
            <a:ext cx="7886700" cy="564300"/>
          </a:xfrm>
          <a:prstGeom prst="rect">
            <a:avLst/>
          </a:prstGeom>
        </p:spPr>
        <p:txBody>
          <a:bodyPr anchorCtr="0" anchor="ctr" bIns="36425" lIns="72850" spcFirstLastPara="1" rIns="72850" wrap="square" tIns="36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720"/>
              <a:t>VARIACIÓN DEL PROCESO</a:t>
            </a:r>
            <a:r>
              <a:rPr lang="es" sz="1720"/>
              <a:t> ESTÁNDAR DE ATENCIÓN </a:t>
            </a:r>
            <a:r>
              <a:rPr lang="es" sz="1720"/>
              <a:t>MÉDICA</a:t>
            </a:r>
            <a:r>
              <a:rPr lang="es" sz="1720"/>
              <a:t> SIMPLE</a:t>
            </a:r>
            <a:endParaRPr sz="1720"/>
          </a:p>
        </p:txBody>
      </p:sp>
      <p:pic>
        <p:nvPicPr>
          <p:cNvPr id="196" name="Google Shape;196;p34" title="HSENILLOSA-EM-CONSULTA-SIMPLE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75" y="659075"/>
            <a:ext cx="8997549" cy="4305324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4"/>
          <p:cNvSpPr txBox="1"/>
          <p:nvPr/>
        </p:nvSpPr>
        <p:spPr>
          <a:xfrm>
            <a:off x="7177975" y="2346150"/>
            <a:ext cx="16191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F0000"/>
                </a:solidFill>
              </a:rPr>
              <a:t>SENILLOSA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900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ideas de interfaz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925" y="243577"/>
            <a:ext cx="3018575" cy="131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8385" y="2571750"/>
            <a:ext cx="4228415" cy="25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6"/>
          <p:cNvSpPr txBox="1"/>
          <p:nvPr/>
        </p:nvSpPr>
        <p:spPr>
          <a:xfrm>
            <a:off x="4111925" y="164775"/>
            <a:ext cx="4584900" cy="18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Para pasar del Login al Tablero de Guardia de forma directa, debe existir un programador de médicos y enfermeros de guardia. Cuando hacen login, controla y, si está programado, pasa directo al tablero de guardia.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10" name="Google Shape;210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7600" y="3567500"/>
            <a:ext cx="1384425" cy="143077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36"/>
          <p:cNvSpPr txBox="1"/>
          <p:nvPr/>
        </p:nvSpPr>
        <p:spPr>
          <a:xfrm>
            <a:off x="438950" y="2459125"/>
            <a:ext cx="3637200" cy="8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2"/>
                </a:solidFill>
              </a:rPr>
              <a:t>En el tablero debe existir una columna llamada menú u opciones que reaccione al estado del paciente, para achicar el número de columnas y mejorar la visibilidad.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212" name="Google Shape;212;p36"/>
          <p:cNvCxnSpPr>
            <a:stCxn id="209" idx="2"/>
          </p:cNvCxnSpPr>
          <p:nvPr/>
        </p:nvCxnSpPr>
        <p:spPr>
          <a:xfrm>
            <a:off x="6404375" y="1984275"/>
            <a:ext cx="0" cy="53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3" name="Google Shape;213;p36"/>
          <p:cNvCxnSpPr>
            <a:stCxn id="211" idx="2"/>
          </p:cNvCxnSpPr>
          <p:nvPr/>
        </p:nvCxnSpPr>
        <p:spPr>
          <a:xfrm flipH="1">
            <a:off x="1468550" y="3352525"/>
            <a:ext cx="789000" cy="83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7"/>
          <p:cNvSpPr/>
          <p:nvPr/>
        </p:nvSpPr>
        <p:spPr>
          <a:xfrm>
            <a:off x="71625" y="601750"/>
            <a:ext cx="8997600" cy="444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Navbar Menu pulldown</a:t>
            </a:r>
            <a:endParaRPr/>
          </a:p>
        </p:txBody>
      </p:sp>
      <p:sp>
        <p:nvSpPr>
          <p:cNvPr id="219" name="Google Shape;219;p37"/>
          <p:cNvSpPr/>
          <p:nvPr/>
        </p:nvSpPr>
        <p:spPr>
          <a:xfrm>
            <a:off x="93125" y="1110375"/>
            <a:ext cx="6297000" cy="3610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Área Informe médico con desplazamiento vertical para facilitar la escritura y lectura completa de la atención en una sola pantalla, más óptima para dispositivos móviles.</a:t>
            </a:r>
            <a:endParaRPr/>
          </a:p>
        </p:txBody>
      </p:sp>
      <p:sp>
        <p:nvSpPr>
          <p:cNvPr id="220" name="Google Shape;220;p37"/>
          <p:cNvSpPr/>
          <p:nvPr/>
        </p:nvSpPr>
        <p:spPr>
          <a:xfrm>
            <a:off x="6425800" y="1110375"/>
            <a:ext cx="2629200" cy="3610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2"/>
                </a:solidFill>
              </a:rPr>
              <a:t>Los N Triage de guardia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2"/>
                </a:solidFill>
              </a:rPr>
              <a:t>Las últimas </a:t>
            </a:r>
            <a:r>
              <a:rPr b="1" lang="es">
                <a:solidFill>
                  <a:schemeClr val="dk2"/>
                </a:solidFill>
              </a:rPr>
              <a:t>N </a:t>
            </a:r>
            <a:r>
              <a:rPr lang="es">
                <a:solidFill>
                  <a:schemeClr val="dk2"/>
                </a:solidFill>
              </a:rPr>
              <a:t>anteriores en guardia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2"/>
                </a:solidFill>
              </a:rPr>
              <a:t>Las últimas </a:t>
            </a:r>
            <a:r>
              <a:rPr b="1" lang="es">
                <a:solidFill>
                  <a:schemeClr val="dk2"/>
                </a:solidFill>
              </a:rPr>
              <a:t>N </a:t>
            </a:r>
            <a:r>
              <a:rPr lang="es">
                <a:solidFill>
                  <a:schemeClr val="dk2"/>
                </a:solidFill>
              </a:rPr>
              <a:t>atenciones en consultorio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2"/>
                </a:solidFill>
              </a:rPr>
              <a:t>Los últimos </a:t>
            </a:r>
            <a:r>
              <a:rPr b="1" lang="es">
                <a:solidFill>
                  <a:schemeClr val="dk2"/>
                </a:solidFill>
              </a:rPr>
              <a:t>N </a:t>
            </a:r>
            <a:r>
              <a:rPr lang="es">
                <a:solidFill>
                  <a:schemeClr val="dk2"/>
                </a:solidFill>
              </a:rPr>
              <a:t>retiros de medicamentos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solidFill>
                  <a:schemeClr val="dk2"/>
                </a:solidFill>
              </a:rPr>
              <a:t>Los últimos </a:t>
            </a:r>
            <a:r>
              <a:rPr b="1" lang="es">
                <a:solidFill>
                  <a:schemeClr val="dk2"/>
                </a:solidFill>
              </a:rPr>
              <a:t>N </a:t>
            </a:r>
            <a:r>
              <a:rPr lang="es">
                <a:solidFill>
                  <a:schemeClr val="dk2"/>
                </a:solidFill>
              </a:rPr>
              <a:t>laboratorios realizados</a:t>
            </a:r>
            <a:endParaRPr b="1"/>
          </a:p>
        </p:txBody>
      </p:sp>
      <p:sp>
        <p:nvSpPr>
          <p:cNvPr id="221" name="Google Shape;221;p37"/>
          <p:cNvSpPr txBox="1"/>
          <p:nvPr>
            <p:ph type="title"/>
          </p:nvPr>
        </p:nvSpPr>
        <p:spPr>
          <a:xfrm>
            <a:off x="182775" y="0"/>
            <a:ext cx="8872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Interfaz médico.</a:t>
            </a:r>
            <a:endParaRPr/>
          </a:p>
        </p:txBody>
      </p:sp>
      <p:sp>
        <p:nvSpPr>
          <p:cNvPr id="222" name="Google Shape;222;p37"/>
          <p:cNvSpPr/>
          <p:nvPr/>
        </p:nvSpPr>
        <p:spPr>
          <a:xfrm>
            <a:off x="93975" y="4720975"/>
            <a:ext cx="8952900" cy="33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7"/>
          <p:cNvSpPr/>
          <p:nvPr/>
        </p:nvSpPr>
        <p:spPr>
          <a:xfrm>
            <a:off x="143275" y="4746025"/>
            <a:ext cx="1002900" cy="286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Cancelar</a:t>
            </a:r>
            <a:endParaRPr/>
          </a:p>
        </p:txBody>
      </p:sp>
      <p:sp>
        <p:nvSpPr>
          <p:cNvPr id="224" name="Google Shape;224;p37"/>
          <p:cNvSpPr/>
          <p:nvPr/>
        </p:nvSpPr>
        <p:spPr>
          <a:xfrm>
            <a:off x="1219775" y="4746025"/>
            <a:ext cx="1002900" cy="286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Grabar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8"/>
          <p:cNvSpPr txBox="1"/>
          <p:nvPr>
            <p:ph type="title"/>
          </p:nvPr>
        </p:nvSpPr>
        <p:spPr>
          <a:xfrm>
            <a:off x="311700" y="2150850"/>
            <a:ext cx="8520600" cy="14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Inconvenientes, soluciones o mejoras</a:t>
            </a:r>
            <a:r>
              <a:rPr lang="es"/>
              <a:t> expresados por los usuarios de los sistemas actuales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900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Consultamos a los </a:t>
            </a:r>
            <a:r>
              <a:rPr lang="es"/>
              <a:t>grupos.</a:t>
            </a:r>
            <a:endParaRPr/>
          </a:p>
        </p:txBody>
      </p:sp>
      <p:sp>
        <p:nvSpPr>
          <p:cNvPr id="235" name="Google Shape;235;p3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¿Si tuvieran que hacer algún cambio, mejora o solución de problemas a su sistema de guardia, cual seria?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0"/>
          <p:cNvSpPr txBox="1"/>
          <p:nvPr>
            <p:ph type="title"/>
          </p:nvPr>
        </p:nvSpPr>
        <p:spPr>
          <a:xfrm>
            <a:off x="628651" y="273845"/>
            <a:ext cx="7886700" cy="994200"/>
          </a:xfrm>
          <a:prstGeom prst="rect">
            <a:avLst/>
          </a:prstGeom>
        </p:spPr>
        <p:txBody>
          <a:bodyPr anchorCtr="0" anchor="ctr" bIns="36425" lIns="72850" spcFirstLastPara="1" rIns="72850" wrap="square" tIns="36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HELLER</a:t>
            </a:r>
            <a:endParaRPr/>
          </a:p>
        </p:txBody>
      </p:sp>
      <p:sp>
        <p:nvSpPr>
          <p:cNvPr id="241" name="Google Shape;241;p40"/>
          <p:cNvSpPr txBox="1"/>
          <p:nvPr>
            <p:ph idx="1" type="body"/>
          </p:nvPr>
        </p:nvSpPr>
        <p:spPr>
          <a:xfrm>
            <a:off x="628651" y="1369219"/>
            <a:ext cx="7886700" cy="3263400"/>
          </a:xfrm>
          <a:prstGeom prst="rect">
            <a:avLst/>
          </a:prstGeom>
        </p:spPr>
        <p:txBody>
          <a:bodyPr anchorCtr="0" anchor="t" bIns="36425" lIns="72850" spcFirstLastPara="1" rIns="72850" wrap="square" tIns="36425">
            <a:norm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s"/>
              <a:t>Historia clínica</a:t>
            </a:r>
            <a:r>
              <a:rPr lang="es"/>
              <a:t> unificada con </a:t>
            </a:r>
            <a:r>
              <a:rPr lang="es"/>
              <a:t>ANDES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Notas</a:t>
            </a:r>
            <a:r>
              <a:rPr lang="es"/>
              <a:t> de </a:t>
            </a:r>
            <a:r>
              <a:rPr lang="es"/>
              <a:t>enfermería</a:t>
            </a:r>
            <a:r>
              <a:rPr lang="es"/>
              <a:t> sin </a:t>
            </a:r>
            <a:r>
              <a:rPr lang="es"/>
              <a:t>indicación médica.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Diagnósticos CIE-10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Laboratorios: incorporar hoja de bacterio, hemoterapia.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Solicitudes de imágenes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1"/>
          <p:cNvSpPr txBox="1"/>
          <p:nvPr>
            <p:ph type="title"/>
          </p:nvPr>
        </p:nvSpPr>
        <p:spPr>
          <a:xfrm>
            <a:off x="628651" y="273845"/>
            <a:ext cx="7886700" cy="994200"/>
          </a:xfrm>
          <a:prstGeom prst="rect">
            <a:avLst/>
          </a:prstGeom>
        </p:spPr>
        <p:txBody>
          <a:bodyPr anchorCtr="0" anchor="ctr" bIns="36425" lIns="72850" spcFirstLastPara="1" rIns="72850" wrap="square" tIns="36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CSP</a:t>
            </a:r>
            <a:endParaRPr/>
          </a:p>
        </p:txBody>
      </p:sp>
      <p:sp>
        <p:nvSpPr>
          <p:cNvPr id="247" name="Google Shape;247;p41"/>
          <p:cNvSpPr txBox="1"/>
          <p:nvPr>
            <p:ph idx="1" type="body"/>
          </p:nvPr>
        </p:nvSpPr>
        <p:spPr>
          <a:xfrm>
            <a:off x="628651" y="1369219"/>
            <a:ext cx="7886700" cy="3263400"/>
          </a:xfrm>
          <a:prstGeom prst="rect">
            <a:avLst/>
          </a:prstGeom>
        </p:spPr>
        <p:txBody>
          <a:bodyPr anchorCtr="0" anchor="t" bIns="36425" lIns="72850" spcFirstLastPara="1" rIns="72850" wrap="square" tIns="36425">
            <a:norm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2"/>
          <p:cNvSpPr txBox="1"/>
          <p:nvPr>
            <p:ph type="title"/>
          </p:nvPr>
        </p:nvSpPr>
        <p:spPr>
          <a:xfrm>
            <a:off x="628651" y="273845"/>
            <a:ext cx="7886700" cy="994200"/>
          </a:xfrm>
          <a:prstGeom prst="rect">
            <a:avLst/>
          </a:prstGeom>
        </p:spPr>
        <p:txBody>
          <a:bodyPr anchorCtr="0" anchor="ctr" bIns="36425" lIns="72850" spcFirstLastPara="1" rIns="72850" wrap="square" tIns="36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CENTENARIO</a:t>
            </a:r>
            <a:endParaRPr/>
          </a:p>
        </p:txBody>
      </p:sp>
      <p:sp>
        <p:nvSpPr>
          <p:cNvPr id="253" name="Google Shape;253;p42"/>
          <p:cNvSpPr txBox="1"/>
          <p:nvPr>
            <p:ph idx="1" type="body"/>
          </p:nvPr>
        </p:nvSpPr>
        <p:spPr>
          <a:xfrm>
            <a:off x="628651" y="1369219"/>
            <a:ext cx="7886700" cy="3263400"/>
          </a:xfrm>
          <a:prstGeom prst="rect">
            <a:avLst/>
          </a:prstGeom>
        </p:spPr>
        <p:txBody>
          <a:bodyPr anchorCtr="0" anchor="t" bIns="36425" lIns="72850" spcFirstLastPara="1" rIns="72850" wrap="square" tIns="36425">
            <a:norm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3"/>
          <p:cNvSpPr txBox="1"/>
          <p:nvPr>
            <p:ph type="title"/>
          </p:nvPr>
        </p:nvSpPr>
        <p:spPr>
          <a:xfrm>
            <a:off x="628650" y="116250"/>
            <a:ext cx="7886700" cy="521400"/>
          </a:xfrm>
          <a:prstGeom prst="rect">
            <a:avLst/>
          </a:prstGeom>
        </p:spPr>
        <p:txBody>
          <a:bodyPr anchorCtr="0" anchor="ctr" bIns="36425" lIns="72850" spcFirstLastPara="1" rIns="72850" wrap="square" tIns="36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HCR</a:t>
            </a:r>
            <a:endParaRPr/>
          </a:p>
        </p:txBody>
      </p:sp>
      <p:sp>
        <p:nvSpPr>
          <p:cNvPr id="259" name="Google Shape;259;p43"/>
          <p:cNvSpPr txBox="1"/>
          <p:nvPr>
            <p:ph idx="1" type="body"/>
          </p:nvPr>
        </p:nvSpPr>
        <p:spPr>
          <a:xfrm>
            <a:off x="628650" y="723525"/>
            <a:ext cx="7886700" cy="4169400"/>
          </a:xfrm>
          <a:prstGeom prst="rect">
            <a:avLst/>
          </a:prstGeom>
        </p:spPr>
        <p:txBody>
          <a:bodyPr anchorCtr="0" anchor="t" bIns="36425" lIns="72850" spcFirstLastPara="1" rIns="72850" wrap="square" tIns="36425">
            <a:norm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s"/>
              <a:t>Usaría</a:t>
            </a:r>
            <a:r>
              <a:rPr lang="es"/>
              <a:t> 5 colores de </a:t>
            </a:r>
            <a:r>
              <a:rPr lang="es"/>
              <a:t>triage.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Sistema</a:t>
            </a:r>
            <a:r>
              <a:rPr lang="es"/>
              <a:t> para prescribir a </a:t>
            </a:r>
            <a:r>
              <a:rPr lang="es"/>
              <a:t>médicos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Integración ANDES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Unificar</a:t>
            </a:r>
            <a:r>
              <a:rPr lang="es"/>
              <a:t> sistemas </a:t>
            </a:r>
            <a:r>
              <a:rPr lang="es"/>
              <a:t>Intranet</a:t>
            </a:r>
            <a:r>
              <a:rPr lang="es"/>
              <a:t> y ANDES</a:t>
            </a:r>
            <a:r>
              <a:rPr lang="es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Medir el tiempo de espera del paciente (admisión-triage)-(triage-médico).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acceso </a:t>
            </a:r>
            <a:r>
              <a:rPr lang="es"/>
              <a:t>sencillo</a:t>
            </a:r>
            <a:r>
              <a:rPr lang="es"/>
              <a:t> a los estudios complementarios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Plottier</a:t>
            </a:r>
            <a:endParaRPr/>
          </a:p>
        </p:txBody>
      </p:sp>
      <p:sp>
        <p:nvSpPr>
          <p:cNvPr id="265" name="Google Shape;265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Cierra</a:t>
            </a:r>
            <a:r>
              <a:rPr lang="es"/>
              <a:t> los pacientes a las </a:t>
            </a:r>
            <a:r>
              <a:rPr lang="es"/>
              <a:t>24 hs</a:t>
            </a:r>
            <a:r>
              <a:rPr lang="es"/>
              <a:t> de estar en el </a:t>
            </a:r>
            <a:r>
              <a:rPr lang="es"/>
              <a:t>sistema.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No</a:t>
            </a:r>
            <a:r>
              <a:rPr lang="es"/>
              <a:t> avisa de consultas repetidas del mismo paciente en el mismo </a:t>
            </a:r>
            <a:r>
              <a:rPr lang="es"/>
              <a:t>día.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No avisa de procedimientos médicos prescriptos a los pacientes a Enfermería.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lentitud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No geolocaliza el domicilio del paciente (útil para el sistema prehospitalario).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