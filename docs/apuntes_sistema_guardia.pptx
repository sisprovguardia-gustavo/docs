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34EE26-72B4-42E0-BCF3-6F9C7DEC1D50}">
  <a:tblStyle styleId="{2034EE26-72B4-42E0-BCF3-6F9C7DEC1D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45a75d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45a75d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145a75d1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145a75d1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45a75d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45a75d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145a75d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145a75d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145a75d1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145a75d1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145a75d1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145a75d1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145a75d1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145a75d1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4c9c2c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14c9c2c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1e120cc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1e120cc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14c9c2cb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14c9c2cb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5c97b8a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25c97b8a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25c97b8a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25c97b8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5c97b8a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25c97b8a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e120cce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1e120cce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324e7e2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324e7e2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145a75d1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145a75d1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1f7aca4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31f7aca4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1f7aca4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31f7aca4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1f7aca4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31f7aca4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324e7e2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324e7e2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24e7e2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324e7e2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31f7aca4d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31f7aca4d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324e7e25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324e7e2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324e7e2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324e7e2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1e120cc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1e120cc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ebab88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ebab8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26724090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26724090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1ece13e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1ece13e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4a8c257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4a8c257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9028d82c8f3212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9028d82c8f3212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4a8c257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4a8c257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4a8c2570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4a8c257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4a8c2570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4a8c2570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4a8c257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4a8c257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2672409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2672409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26724090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26724090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26724090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26724090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search?q=Rojo&amp;sca_esv=d40604f3f60c5a6f&amp;sxsrf=AE3TifP5pfDK9fcdUyQ4DOZ7O9n-lYOXPA%3A1765968264722&amp;ei=iIlCafHoK-Tc1sQPk9HL8Qo&amp;ved=2ahUKEwicucDHuMSRAxXfqZUCHafIIOMQgK4QegQIAxAB&amp;uact=5&amp;oq=triage+enfermeria+urgencias+colores+internacionnales&amp;gs_lp=Egxnd3Mtd2l6LXNlcnAiNHRyaWFnZSBlbmZlcm1lcmlhIHVyZ2VuY2lhcyBjb2xvcmVzIGludGVybmFjaW9ubmFsZXMyBxAhGKABGAoyBxAhGKABGApI8ipQ-gRY0yhwAngBkAEAmAGIAaABwA-qAQQyLjE2uAEDyAEA-AEBmAIUoAKVEMICChAAGLADGNYEGEfCAgUQIRigAcICBRAhGJ8FmAMAiAYBkAYIkgcEMi4xOKAH70OyBwQwLjE4uAeNEMIHBjAuMTguMsgHKYAIAA&amp;sclient=gws-wiz-serp&amp;zx=1765968296725&amp;no_sw_cr=1" TargetMode="External"/><Relationship Id="rId4" Type="http://schemas.openxmlformats.org/officeDocument/2006/relationships/hyperlink" Target="https://www.google.com/search?q=Naranja&amp;sca_esv=d40604f3f60c5a6f&amp;sxsrf=AE3TifP5pfDK9fcdUyQ4DOZ7O9n-lYOXPA%3A1765968264722&amp;ei=iIlCafHoK-Tc1sQPk9HL8Qo&amp;ved=2ahUKEwicucDHuMSRAxXfqZUCHafIIOMQgK4QegQIAxAD&amp;uact=5&amp;oq=triage+enfermeria+urgencias+colores+internacionnales&amp;gs_lp=Egxnd3Mtd2l6LXNlcnAiNHRyaWFnZSBlbmZlcm1lcmlhIHVyZ2VuY2lhcyBjb2xvcmVzIGludGVybmFjaW9ubmFsZXMyBxAhGKABGAoyBxAhGKABGApI8ipQ-gRY0yhwAngBkAEAmAGIAaABwA-qAQQyLjE2uAEDyAEA-AEBmAIUoAKVEMICChAAGLADGNYEGEfCAgUQIRigAcICBRAhGJ8FmAMAiAYBkAYIkgcEMi4xOKAH70OyBwQwLjE4uAeNEMIHBjAuMTguMsgHKYAIAA&amp;sclient=gws-wiz-serp&amp;zx=1765968296725&amp;no_sw_cr=1" TargetMode="External"/><Relationship Id="rId5" Type="http://schemas.openxmlformats.org/officeDocument/2006/relationships/hyperlink" Target="https://www.google.com/search?q=Amarillo&amp;sca_esv=d40604f3f60c5a6f&amp;sxsrf=AE3TifP5pfDK9fcdUyQ4DOZ7O9n-lYOXPA%3A1765968264722&amp;ei=iIlCafHoK-Tc1sQPk9HL8Qo&amp;ved=2ahUKEwicucDHuMSRAxXfqZUCHafIIOMQgK4QegQIAxAF&amp;uact=5&amp;oq=triage+enfermeria+urgencias+colores+internacionnales&amp;gs_lp=Egxnd3Mtd2l6LXNlcnAiNHRyaWFnZSBlbmZlcm1lcmlhIHVyZ2VuY2lhcyBjb2xvcmVzIGludGVybmFjaW9ubmFsZXMyBxAhGKABGAoyBxAhGKABGApI8ipQ-gRY0yhwAngBkAEAmAGIAaABwA-qAQQyLjE2uAEDyAEA-AEBmAIUoAKVEMICChAAGLADGNYEGEfCAgUQIRigAcICBRAhGJ8FmAMAiAYBkAYIkgcEMi4xOKAH70OyBwQwLjE4uAeNEMIHBjAuMTguMsgHKYAIAA&amp;sclient=gws-wiz-serp&amp;zx=1765968296725&amp;no_sw_cr=1" TargetMode="External"/><Relationship Id="rId6" Type="http://schemas.openxmlformats.org/officeDocument/2006/relationships/hyperlink" Target="https://www.google.com/search?q=Verde&amp;sca_esv=d40604f3f60c5a6f&amp;sxsrf=AE3TifP5pfDK9fcdUyQ4DOZ7O9n-lYOXPA%3A1765968264722&amp;ei=iIlCafHoK-Tc1sQPk9HL8Qo&amp;ved=2ahUKEwicucDHuMSRAxXfqZUCHafIIOMQgK4QegQIAxAH&amp;uact=5&amp;oq=triage+enfermeria+urgencias+colores+internacionnales&amp;gs_lp=Egxnd3Mtd2l6LXNlcnAiNHRyaWFnZSBlbmZlcm1lcmlhIHVyZ2VuY2lhcyBjb2xvcmVzIGludGVybmFjaW9ubmFsZXMyBxAhGKABGAoyBxAhGKABGApI8ipQ-gRY0yhwAngBkAEAmAGIAaABwA-qAQQyLjE2uAEDyAEA-AEBmAIUoAKVEMICChAAGLADGNYEGEfCAgUQIRigAcICBRAhGJ8FmAMAiAYBkAYIkgcEMi4xOKAH70OyBwQwLjE4uAeNEMIHBjAuMTguMsgHKYAIAA&amp;sclient=gws-wiz-serp&amp;zx=1765968296725&amp;no_sw_cr=1" TargetMode="External"/><Relationship Id="rId7" Type="http://schemas.openxmlformats.org/officeDocument/2006/relationships/hyperlink" Target="https://www.google.com/search?q=Azul&amp;sca_esv=d40604f3f60c5a6f&amp;sxsrf=AE3TifP5pfDK9fcdUyQ4DOZ7O9n-lYOXPA%3A1765968264722&amp;ei=iIlCafHoK-Tc1sQPk9HL8Qo&amp;ved=2ahUKEwicucDHuMSRAxXfqZUCHafIIOMQgK4QegQIAxAJ&amp;uact=5&amp;oq=triage+enfermeria+urgencias+colores+internacionnales&amp;gs_lp=Egxnd3Mtd2l6LXNlcnAiNHRyaWFnZSBlbmZlcm1lcmlhIHVyZ2VuY2lhcyBjb2xvcmVzIGludGVybmFjaW9ubmFsZXMyBxAhGKABGAoyBxAhGKABGApI8ipQ-gRY0yhwAngBkAEAmAGIAaABwA-qAQQyLjE2uAEDyAEA-AEBmAIUoAKVEMICChAAGLADGNYEGEfCAgUQIRigAcICBRAhGJ8FmAMAiAYBkAYIkgcEMi4xOKAH70OyBwQwLjE4uAeNEMIHBjAuMTguMsgHKYAIAA&amp;sclient=gws-wiz-serp&amp;zx=1765968296725&amp;no_sw_cr=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google.com/search?q=Apertura+Ocular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B" TargetMode="External"/><Relationship Id="rId4" Type="http://schemas.openxmlformats.org/officeDocument/2006/relationships/hyperlink" Target="https://www.google.com/search?q=Respuesta+Verbal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H" TargetMode="External"/><Relationship Id="rId5" Type="http://schemas.openxmlformats.org/officeDocument/2006/relationships/hyperlink" Target="https://www.google.com/search?q=Respuesta+Motora&amp;oq=triage+escala+de+glassow&amp;gs_lcrp=EgZjaHJvbWUyBggAEEUYOTIKCAEQABgIGA0YHjIHCAIQABjvBTIKCAMQABiABBiiBDIKCAQQABiABBiiBDIKCAUQABiABBiiBDIKCAYQABiABBiiBNIBCDkwMTJqMGo3qAIAsAIA&amp;sourceid=chrome&amp;ie=UTF-8&amp;mstk=AUtExfBjh9j9zaxe0A0LdtLRTmNiEjGpjuPhhxuOsO6BrqHBJK7RZn2C3UXDB-OrNJF7X_RDDWvKu0SxjSP3O_Ok302C_cu5SDePBhwk3OS9YbiCri5C8cquz56xRuzThhIZBfCrSdlm_NV3Fyu_CXz3jyx3jFUyioN5xeEfsaY-oDInDTc&amp;csui=3&amp;ved=2ahUKEwj2xbHhtMeRAxWrLrkGHRC-GwIQgK4QegQIAxA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IDEAS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COLORES</a:t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108975" y="1231400"/>
            <a:ext cx="8832300" cy="3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Códigos de Color y Significado:</a:t>
            </a:r>
            <a:endParaRPr sz="15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" sz="1200" u="sng">
                <a:solidFill>
                  <a:schemeClr val="dk1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Rojo</a:t>
            </a:r>
            <a:r>
              <a:rPr b="1" lang="es" sz="12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(Inmediato): Amenaza vital, requiere atención médica inmediata (ej. shock, dificultad respiratoria severa).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" sz="1200" u="sng">
                <a:solidFill>
                  <a:srgbClr val="FF9900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Naranja</a:t>
            </a:r>
            <a:r>
              <a:rPr b="1" lang="es" sz="1200">
                <a:solidFill>
                  <a:srgbClr val="FF9900"/>
                </a:solidFill>
                <a:highlight>
                  <a:srgbClr val="FFFFFF"/>
                </a:highlight>
              </a:rPr>
              <a:t> 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(Emergencia): Riesgo vital, necesita atención rápida pero no tan crítica como el rojo (ej. fracturas abiertas, quemaduras extensas).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" sz="1200" u="sng">
                <a:solidFill>
                  <a:srgbClr val="FFFF00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Amarillo</a:t>
            </a:r>
            <a:r>
              <a:rPr b="1" lang="es" sz="1200">
                <a:solidFill>
                  <a:srgbClr val="FFFF00"/>
                </a:solidFill>
                <a:highlight>
                  <a:srgbClr val="FFFFFF"/>
                </a:highlight>
              </a:rPr>
              <a:t> 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(Urgente): Urgencia no inmediata, el paciente está estable pero requiere atención en poco tiempo (ej. esguinces, fracturas menores).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" sz="1200" u="sng">
                <a:solidFill>
                  <a:srgbClr val="38761D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Verde</a:t>
            </a:r>
            <a:r>
              <a:rPr b="1" lang="es" sz="1200">
                <a:solidFill>
                  <a:srgbClr val="38761D"/>
                </a:solidFill>
                <a:highlight>
                  <a:srgbClr val="FFFFFF"/>
                </a:highlight>
              </a:rPr>
              <a:t> 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(Menos Urgente/Demorable): Problemas leves, puede esperar (ej. resfriados, dolor de garganta, heridas pequeñas).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s" sz="1200" u="sng">
                <a:solidFill>
                  <a:srgbClr val="0000FF"/>
                </a:solidFill>
                <a:highlight>
                  <a:srgbClr val="FFFFFF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Azul</a:t>
            </a:r>
            <a:r>
              <a:rPr b="1" lang="es" sz="1200">
                <a:solidFill>
                  <a:srgbClr val="0000FF"/>
                </a:solidFill>
                <a:highlight>
                  <a:srgbClr val="FFFFFF"/>
                </a:highlight>
              </a:rPr>
              <a:t> 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(Mínimo/Sin Urgencia): Problemas menores, puede ser atendido en atención primaria o esperar mucho tiempo, según el hospital.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Negro (Fallecido/Sin Esperanza): Para pacientes que han fallecido o no tienen posibilidades de sobrevivir.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 HELLER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Admisión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Responsable: </a:t>
            </a:r>
            <a:r>
              <a:rPr lang="es"/>
              <a:t>Enfermería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Colores: 5</a:t>
            </a:r>
            <a:r>
              <a:rPr lang="es"/>
              <a:t>	Rojo, Naranja, Amarillo, Verde y Azul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Donde van los pacientes </a:t>
            </a:r>
            <a:r>
              <a:rPr lang="es" u="sng"/>
              <a:t>después</a:t>
            </a:r>
            <a:r>
              <a:rPr lang="es" u="sng"/>
              <a:t> de triage: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Pasillo Externo:</a:t>
            </a:r>
            <a:r>
              <a:rPr lang="es"/>
              <a:t> Verde y Azul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Pasillo Interno: </a:t>
            </a:r>
            <a:r>
              <a:rPr lang="es"/>
              <a:t>Amarillo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Shock Room:</a:t>
            </a:r>
            <a:r>
              <a:rPr lang="es"/>
              <a:t> Rojos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 CENTRO SALUD PROGRESO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Admisión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Responsable: </a:t>
            </a:r>
            <a:r>
              <a:rPr lang="es"/>
              <a:t>Enfermería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Colores: 3</a:t>
            </a:r>
            <a:r>
              <a:rPr lang="es"/>
              <a:t>	Rojo, Amarillo y Verde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Donde van los pacientes después de triage: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Consultorio Médico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Consultorio Respiratorio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Shock Room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 HOSPITAL BOUQUET ROLDAN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 Admisión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Responsable: </a:t>
            </a:r>
            <a:r>
              <a:rPr lang="es"/>
              <a:t>Enfermería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Colores: 3</a:t>
            </a:r>
            <a:r>
              <a:rPr lang="es"/>
              <a:t>	Rojo, Amarillo y Verde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Donde van los pacientes después de triage: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Sala de Espera: </a:t>
            </a:r>
            <a:r>
              <a:rPr lang="es"/>
              <a:t>Verdes y Amarillos leves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Consultorio </a:t>
            </a:r>
            <a:r>
              <a:rPr b="1" lang="es"/>
              <a:t>Médico</a:t>
            </a:r>
            <a:r>
              <a:rPr b="1" lang="es"/>
              <a:t>: </a:t>
            </a:r>
            <a:r>
              <a:rPr lang="es"/>
              <a:t>Amarillo Graves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Shock Room: Rojos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 HOSPITAL CASTRO </a:t>
            </a:r>
            <a:r>
              <a:rPr lang="es"/>
              <a:t>RENDÓN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Admisión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Responsable: </a:t>
            </a:r>
            <a:r>
              <a:rPr lang="es"/>
              <a:t>Enfermería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Colores: 4</a:t>
            </a:r>
            <a:r>
              <a:rPr lang="es"/>
              <a:t>	Rojo, Amarillo, Verde y Azul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Donde van los pacientes después de triage: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Sala de Espera: Verde y Azul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Consultorio </a:t>
            </a:r>
            <a:r>
              <a:rPr b="1" lang="es"/>
              <a:t>Médico</a:t>
            </a:r>
            <a:r>
              <a:rPr b="1" lang="es"/>
              <a:t>: Amarillo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Shock Room: Rojo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TRIAGE HOSPITAL SENILLOSA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Sin Admisión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Responsable: </a:t>
            </a:r>
            <a:r>
              <a:rPr lang="es"/>
              <a:t>Enfermería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Colores: 5</a:t>
            </a:r>
            <a:r>
              <a:rPr lang="es"/>
              <a:t>	Rojo, Amarillo, Verde y Azul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/>
              <a:t>Donde van los pacientes después de triage: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Sala de Espera: Verde y Azul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Consultorio Médico: Amarillo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Shock Room: Rojo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Medico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la </a:t>
            </a:r>
            <a:r>
              <a:rPr lang="es"/>
              <a:t>atención</a:t>
            </a:r>
            <a:r>
              <a:rPr lang="es"/>
              <a:t> el paciente puede quedar en 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1-) Observación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2-) Interconsulta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En tto. </a:t>
            </a:r>
            <a:r>
              <a:rPr lang="es"/>
              <a:t>De</a:t>
            </a:r>
            <a:r>
              <a:rPr lang="es"/>
              <a:t> </a:t>
            </a:r>
            <a:r>
              <a:rPr lang="es"/>
              <a:t>enfermería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4-) Realizarse estudios(laboratorio, </a:t>
            </a:r>
            <a:r>
              <a:rPr lang="es"/>
              <a:t>imágenes, otros</a:t>
            </a:r>
            <a:r>
              <a:rPr lang="es"/>
              <a:t>) estos pueden ser en el sistema </a:t>
            </a:r>
            <a:r>
              <a:rPr lang="es"/>
              <a:t>público</a:t>
            </a:r>
            <a:r>
              <a:rPr lang="es"/>
              <a:t> o privado.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Después</a:t>
            </a:r>
            <a:r>
              <a:rPr lang="es"/>
              <a:t> de la </a:t>
            </a:r>
            <a:r>
              <a:rPr lang="es"/>
              <a:t>atención,</a:t>
            </a:r>
            <a:r>
              <a:rPr lang="es"/>
              <a:t> el paciente puede ir a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1-) Alta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2-) </a:t>
            </a:r>
            <a:r>
              <a:rPr lang="es"/>
              <a:t>Derivación</a:t>
            </a:r>
            <a:r>
              <a:rPr lang="es"/>
              <a:t> - sistema </a:t>
            </a:r>
            <a:r>
              <a:rPr lang="es"/>
              <a:t>público</a:t>
            </a:r>
            <a:r>
              <a:rPr lang="es"/>
              <a:t> o privado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</a:t>
            </a:r>
            <a:r>
              <a:rPr lang="es"/>
              <a:t>Internación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Alta Voluntaria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5-) Fuga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6-) Óbito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Acá</a:t>
            </a:r>
            <a:r>
              <a:rPr lang="es"/>
              <a:t> arranca todo</a:t>
            </a:r>
            <a:endParaRPr/>
          </a:p>
        </p:txBody>
      </p:sp>
      <p:sp>
        <p:nvSpPr>
          <p:cNvPr id="119" name="Google Shape;11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Provincial de Guardia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19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</a:t>
            </a:r>
            <a:r>
              <a:rPr lang="es"/>
              <a:t> Consulta Consultorio </a:t>
            </a:r>
            <a:r>
              <a:rPr lang="es"/>
              <a:t>vs.</a:t>
            </a:r>
            <a:r>
              <a:rPr lang="es"/>
              <a:t> Guardia</a:t>
            </a:r>
            <a:endParaRPr/>
          </a:p>
        </p:txBody>
      </p:sp>
      <p:graphicFrame>
        <p:nvGraphicFramePr>
          <p:cNvPr id="125" name="Google Shape;125;p25"/>
          <p:cNvGraphicFramePr/>
          <p:nvPr/>
        </p:nvGraphicFramePr>
        <p:xfrm>
          <a:off x="75625" y="89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{2034EE26-72B4-42E0-BCF3-6F9C7DEC1D50}</a:tableStyleId>
              </a:tblPr>
              <a:tblGrid>
                <a:gridCol w="2103825"/>
                <a:gridCol w="3388825"/>
                <a:gridCol w="3187250"/>
              </a:tblGrid>
              <a:tr h="42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ASPECTO</a:t>
                      </a:r>
                      <a:endParaRPr b="1" sz="1150"/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CONSULTORIO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GUARDIA GENERAL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OBJETIVO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Seguimiento y control.</a:t>
                      </a:r>
                      <a:r>
                        <a:rPr lang="es" sz="1150"/>
                        <a:t> Problemas de salud </a:t>
                      </a:r>
                      <a:r>
                        <a:rPr b="1" lang="es" sz="1150"/>
                        <a:t>NO urgentes</a:t>
                      </a:r>
                      <a:r>
                        <a:rPr lang="es" sz="1150"/>
                        <a:t> O Crónicos.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Estabilizar y resolver urgencias.</a:t>
                      </a:r>
                      <a:r>
                        <a:rPr lang="es" sz="1150"/>
                        <a:t> Problemas de salud </a:t>
                      </a:r>
                      <a:r>
                        <a:rPr b="1" lang="es" sz="1150"/>
                        <a:t>AGUDOS/GRAVES</a:t>
                      </a:r>
                      <a:r>
                        <a:rPr lang="es" sz="1150"/>
                        <a:t> que no pueden esperar.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CÓMO SE ENTRA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Con </a:t>
                      </a:r>
                      <a:r>
                        <a:rPr b="1" lang="es" sz="1150"/>
                        <a:t>turno previo</a:t>
                      </a:r>
                      <a:r>
                        <a:rPr lang="es" sz="1150"/>
                        <a:t> (programado). Se saca días/semanas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Sin turno.</a:t>
                      </a:r>
                      <a:r>
                        <a:rPr lang="es" sz="1150"/>
                        <a:t> Llegada directa por </a:t>
                      </a:r>
                      <a:r>
                        <a:rPr b="1" lang="es" sz="1150"/>
                        <a:t>urgencia</a:t>
                      </a:r>
                      <a:r>
                        <a:rPr lang="es" sz="1150"/>
                        <a:t>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PRIORIDAD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Por </a:t>
                      </a:r>
                      <a:r>
                        <a:rPr b="1" lang="es" sz="1150"/>
                        <a:t>orden de turno</a:t>
                      </a:r>
                      <a:r>
                        <a:rPr lang="es" sz="1150"/>
                        <a:t>. 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50"/>
                        <a:t>Por </a:t>
                      </a:r>
                      <a:r>
                        <a:rPr b="1" lang="es" sz="1150"/>
                        <a:t>gravedad (Triage)</a:t>
                      </a:r>
                      <a:r>
                        <a:rPr lang="es" sz="1150"/>
                        <a:t>. Atiende primero el más grave, no el que llegó primero.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TIEMPO CON EL MÉDICO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Más tiempo.</a:t>
                      </a:r>
                      <a:r>
                        <a:rPr lang="es" sz="1150"/>
                        <a:t> Para hablar, examinar y explicar.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Poco tiempo </a:t>
                      </a:r>
                      <a:r>
                        <a:rPr lang="es" sz="1150"/>
                        <a:t>Enfocado </a:t>
                      </a:r>
                      <a:r>
                        <a:rPr lang="es" sz="1150"/>
                        <a:t>solo</a:t>
                      </a:r>
                      <a:r>
                        <a:rPr lang="es" sz="1150"/>
                        <a:t> en la urgencia.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8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RESULTADO DE LA VISITA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Solución </a:t>
                      </a:r>
                      <a:r>
                        <a:rPr b="1" lang="es" sz="1150"/>
                        <a:t>mediana</a:t>
                      </a:r>
                      <a:r>
                        <a:rPr b="1" lang="es" sz="1150"/>
                        <a:t> a largo plazo.</a:t>
                      </a:r>
                      <a:r>
                        <a:rPr lang="es" sz="1150"/>
                        <a:t> Plan de tratamiento, receta, derivación programada a especialista.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Solución inmediata.</a:t>
                      </a:r>
                      <a:r>
                        <a:rPr lang="es" sz="1150"/>
                        <a:t> Alivio de la urgencia, observación, interacción o derivación.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1955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 Consulta Consultorio vs. Guardia</a:t>
            </a:r>
            <a:endParaRPr/>
          </a:p>
        </p:txBody>
      </p:sp>
      <p:graphicFrame>
        <p:nvGraphicFramePr>
          <p:cNvPr id="131" name="Google Shape;131;p26"/>
          <p:cNvGraphicFramePr/>
          <p:nvPr/>
        </p:nvGraphicFramePr>
        <p:xfrm>
          <a:off x="75625" y="7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{2034EE26-72B4-42E0-BCF3-6F9C7DEC1D50}</a:tableStyleId>
              </a:tblPr>
              <a:tblGrid>
                <a:gridCol w="2103825"/>
                <a:gridCol w="3388825"/>
                <a:gridCol w="3187250"/>
              </a:tblGrid>
              <a:tr h="53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ASPECTO</a:t>
                      </a:r>
                      <a:endParaRPr b="1" sz="1150"/>
                    </a:p>
                  </a:txBody>
                  <a:tcPr marT="95250" marB="95250" marR="152400" marL="91425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CONSULTORIO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CONSULTA EN GUARDIA GENERAL</a:t>
                      </a:r>
                      <a:endParaRPr b="1" sz="1150"/>
                    </a:p>
                  </a:txBody>
                  <a:tcPr marT="95250" marB="95250" marR="152400" marL="152400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QUIÉN TE ATIENDE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Tu médico de cabecera</a:t>
                      </a:r>
                      <a:r>
                        <a:rPr lang="es" sz="1150"/>
                        <a:t> (o un médico del consultorio externo). Te conoce de antes.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El médico de guardia</a:t>
                      </a:r>
                      <a:r>
                        <a:rPr lang="es" sz="1150"/>
                        <a:t> de ese día. Es la primera vez que te ve.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CONTINUIDAD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Te da seguimiento.</a:t>
                      </a:r>
                      <a:r>
                        <a:rPr lang="es" sz="1150"/>
                        <a:t> Agenda el próximo control.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No da seguimiento.</a:t>
                      </a:r>
                      <a:r>
                        <a:rPr lang="es" sz="1150"/>
                        <a:t> Te dice “vuelva a su médico” o “vaya al consultorio”.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TOTAL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para conseguir el turno</a:t>
                      </a:r>
                      <a:r>
                        <a:rPr lang="es" sz="1150"/>
                        <a:t> (días/semanas). Pero el día de la consulta, entras a tu hora.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Demora en la guardia</a:t>
                      </a:r>
                      <a:r>
                        <a:rPr lang="es" sz="1150"/>
                        <a:t> (horas). Depende de cuánta gente haya y de tu gravedad (color de triage).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0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CONSEJO</a:t>
                      </a:r>
                      <a:endParaRPr b="1" sz="1150"/>
                    </a:p>
                  </a:txBody>
                  <a:tcPr marT="95250" marB="95250" marR="152400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 la puerta de entrada correcta</a:t>
                      </a:r>
                      <a:r>
                        <a:rPr lang="es" sz="1150"/>
                        <a:t> para el cuidado de tu salud a largo plazo.</a:t>
                      </a:r>
                      <a:endParaRPr sz="1150"/>
                    </a:p>
                  </a:txBody>
                  <a:tcPr marT="95250" marB="95250" marR="152400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50"/>
                        <a:t>Es para emergencias.</a:t>
                      </a:r>
                      <a:r>
                        <a:rPr lang="es" sz="1150"/>
                        <a:t> Usarla para problemas no urgentes </a:t>
                      </a:r>
                      <a:r>
                        <a:rPr b="1" lang="es" sz="1150"/>
                        <a:t>satura el sistema</a:t>
                      </a:r>
                      <a:r>
                        <a:rPr lang="es" sz="1150"/>
                        <a:t> y hace esperar a los graves.</a:t>
                      </a:r>
                      <a:endParaRPr sz="1150"/>
                    </a:p>
                  </a:txBody>
                  <a:tcPr marT="95250" marB="95250" marR="91425" marL="1524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Sugerencias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r>
              <a:rPr lang="es"/>
              <a:t> del SPG</a:t>
            </a:r>
            <a:endParaRPr/>
          </a:p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ÁGIL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FÁCIL E INTUITIVO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RÁPIDO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HACER LA MENOR CANTIDAD DE CLICS Y PANTALLAS PARA LLEGAR AL PACIENTE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AGILIZAR EL PROCESO DE DERIVACIÓN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ESTAR ARTICULADO CON TODO EL ECOSISTEMA DE ANDES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DAR INFORMACIÓN CONSTANTE DEL ESTADO DE LA GUARDIA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 me </a:t>
            </a:r>
            <a:r>
              <a:rPr lang="es"/>
              <a:t>debería</a:t>
            </a:r>
            <a:r>
              <a:rPr lang="es"/>
              <a:t> permitir configurar el Sistema</a:t>
            </a:r>
            <a:endParaRPr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Colores de Triage 3 a 5,  tiempo de espera por colores y alarmas de los cambios.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Destino de los pacientes </a:t>
            </a:r>
            <a:r>
              <a:rPr lang="es"/>
              <a:t>después</a:t>
            </a:r>
            <a:r>
              <a:rPr lang="es"/>
              <a:t> de triage, en la atenci</a:t>
            </a:r>
            <a:r>
              <a:rPr lang="es"/>
              <a:t>ón </a:t>
            </a:r>
            <a:r>
              <a:rPr lang="es"/>
              <a:t>médica</a:t>
            </a:r>
            <a:r>
              <a:rPr lang="es"/>
              <a:t> y después de la misma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</a:t>
            </a:r>
            <a:r>
              <a:rPr lang="es"/>
              <a:t>ugares ej.: boxes, shockroom, camas, sillas, camillas, etc. para uso de la guardia no sensables.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</a:t>
            </a:r>
            <a:r>
              <a:rPr lang="es"/>
              <a:t>otación</a:t>
            </a:r>
            <a:r>
              <a:rPr lang="es"/>
              <a:t> de enfermeros y </a:t>
            </a:r>
            <a:r>
              <a:rPr lang="es"/>
              <a:t>médicos</a:t>
            </a:r>
            <a:r>
              <a:rPr lang="es"/>
              <a:t> por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Estudios(tipo y horario, ej. Plottier y CSP con eco) e Interconsultas (especialidades)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COMPARATIVA DE SISTEMAS</a:t>
            </a:r>
            <a:endParaRPr/>
          </a:p>
        </p:txBody>
      </p:sp>
      <p:sp>
        <p:nvSpPr>
          <p:cNvPr id="154" name="Google Shape;154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SIPS - HCR - HHH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311700" y="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 sz="2688"/>
              <a:t>QUE </a:t>
            </a:r>
            <a:r>
              <a:rPr lang="es" sz="2688"/>
              <a:t>DEBERÍA</a:t>
            </a:r>
            <a:r>
              <a:rPr lang="es" sz="2688"/>
              <a:t> TENER EL TABLERO  DE LA GUARDIA?</a:t>
            </a:r>
            <a:endParaRPr sz="2688"/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311700" y="716575"/>
            <a:ext cx="8520600" cy="44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1-) A </a:t>
            </a:r>
            <a:r>
              <a:rPr lang="es"/>
              <a:t>qué</a:t>
            </a:r>
            <a:r>
              <a:rPr lang="es"/>
              <a:t> guardia </a:t>
            </a:r>
            <a:r>
              <a:rPr lang="es"/>
              <a:t>está</a:t>
            </a:r>
            <a:r>
              <a:rPr lang="es"/>
              <a:t> anotado(general, </a:t>
            </a:r>
            <a:r>
              <a:rPr lang="es"/>
              <a:t>pediátrica</a:t>
            </a:r>
            <a:r>
              <a:rPr lang="es"/>
              <a:t>, </a:t>
            </a:r>
            <a:r>
              <a:rPr lang="es"/>
              <a:t>obstétrica</a:t>
            </a:r>
            <a:r>
              <a:rPr lang="es"/>
              <a:t>,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2-) Fecha y Hora </a:t>
            </a:r>
            <a:r>
              <a:rPr lang="es"/>
              <a:t>recepcionada</a:t>
            </a:r>
            <a:r>
              <a:rPr lang="es"/>
              <a:t> por </a:t>
            </a:r>
            <a:r>
              <a:rPr lang="es"/>
              <a:t>Admisión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"/>
              <a:t>3</a:t>
            </a:r>
            <a:r>
              <a:rPr lang="es"/>
              <a:t>-) DNI, EDAD y Apellido y Nombre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Color de Triage (default blanco los que esperan ser atendidos en consultorio de Triage)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Motivo consulta (si fue realizado el triage).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4-) Presente o </a:t>
            </a:r>
            <a:r>
              <a:rPr lang="es"/>
              <a:t>Ausente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5-) </a:t>
            </a:r>
            <a:r>
              <a:rPr lang="es"/>
              <a:t>Ubicación</a:t>
            </a:r>
            <a:r>
              <a:rPr lang="es"/>
              <a:t> del Paciente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6) Laboratorios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7-) Estudios de </a:t>
            </a:r>
            <a:r>
              <a:rPr lang="es"/>
              <a:t>Imágenes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8-) Camillero (es cuando el profesional o enfermero solicitan trasladar al paciente).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9-) saber a cada momento </a:t>
            </a:r>
            <a:r>
              <a:rPr lang="es"/>
              <a:t>quién</a:t>
            </a:r>
            <a:r>
              <a:rPr lang="es"/>
              <a:t> lo </a:t>
            </a:r>
            <a:r>
              <a:rPr lang="es"/>
              <a:t>está</a:t>
            </a:r>
            <a:r>
              <a:rPr lang="es"/>
              <a:t> atendiendo y el lugar dentro de la guardia.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10-) Mostrar el destino del paciente si finalizo su proceso de </a:t>
            </a:r>
            <a:r>
              <a:rPr lang="es"/>
              <a:t>atención </a:t>
            </a:r>
            <a:r>
              <a:rPr lang="es"/>
              <a:t>(Alta </a:t>
            </a:r>
            <a:r>
              <a:rPr lang="es"/>
              <a:t>Enfermería</a:t>
            </a:r>
            <a:r>
              <a:rPr lang="es"/>
              <a:t>, Alta </a:t>
            </a:r>
            <a:r>
              <a:rPr lang="es"/>
              <a:t>Médica</a:t>
            </a:r>
            <a:r>
              <a:rPr lang="es"/>
              <a:t>, Alta Voluntaria,  </a:t>
            </a:r>
            <a:r>
              <a:rPr lang="es"/>
              <a:t>Derivación</a:t>
            </a:r>
            <a:r>
              <a:rPr lang="es"/>
              <a:t>, </a:t>
            </a:r>
            <a:r>
              <a:rPr lang="es"/>
              <a:t>Defunción</a:t>
            </a:r>
            <a:r>
              <a:rPr lang="es"/>
              <a:t>, </a:t>
            </a:r>
            <a:r>
              <a:rPr lang="es"/>
              <a:t>Fuga, </a:t>
            </a:r>
            <a:r>
              <a:rPr lang="es"/>
              <a:t>internación</a:t>
            </a:r>
            <a:r>
              <a:rPr lang="es"/>
              <a:t>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7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TABLERO  - HELLER</a:t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525" y="853925"/>
            <a:ext cx="7052850" cy="42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438" y="185250"/>
            <a:ext cx="53169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475" y="87025"/>
            <a:ext cx="483870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50" y="1268450"/>
            <a:ext cx="8644875" cy="37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5"/>
          <p:cNvSpPr txBox="1"/>
          <p:nvPr>
            <p:ph type="title"/>
          </p:nvPr>
        </p:nvSpPr>
        <p:spPr>
          <a:xfrm>
            <a:off x="311700" y="74500"/>
            <a:ext cx="852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ADMISION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50" y="1268450"/>
            <a:ext cx="8815874" cy="362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6"/>
          <p:cNvSpPr txBox="1"/>
          <p:nvPr>
            <p:ph type="title"/>
          </p:nvPr>
        </p:nvSpPr>
        <p:spPr>
          <a:xfrm>
            <a:off x="311700" y="74500"/>
            <a:ext cx="852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ENFERMERO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7"/>
          <p:cNvPicPr preferRelativeResize="0"/>
          <p:nvPr/>
        </p:nvPicPr>
        <p:blipFill rotWithShape="1">
          <a:blip r:embed="rId3">
            <a:alphaModFix/>
          </a:blip>
          <a:srcRect b="15511" l="6114" r="7894" t="11666"/>
          <a:stretch/>
        </p:blipFill>
        <p:spPr>
          <a:xfrm>
            <a:off x="76125" y="1290225"/>
            <a:ext cx="8894500" cy="37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7"/>
          <p:cNvSpPr txBox="1"/>
          <p:nvPr>
            <p:ph type="title"/>
          </p:nvPr>
        </p:nvSpPr>
        <p:spPr>
          <a:xfrm>
            <a:off x="76125" y="74500"/>
            <a:ext cx="89706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ESTILO DE DASHBOARD  -SIPS / HCR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MÉDICO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type="title"/>
          </p:nvPr>
        </p:nvSpPr>
        <p:spPr>
          <a:xfrm>
            <a:off x="311700" y="2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Módulos</a:t>
            </a:r>
            <a:r>
              <a:rPr lang="es"/>
              <a:t> que debe contemplar el sistema</a:t>
            </a:r>
            <a:endParaRPr/>
          </a:p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311700" y="1152475"/>
            <a:ext cx="325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ADMISIÓN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Recepción de Pacientes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ENFERMERÍA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Triage de Enfermería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Prescripciones Médicas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Evoluciones sin indicaciones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médica</a:t>
            </a:r>
            <a:r>
              <a:rPr lang="es">
                <a:solidFill>
                  <a:schemeClr val="dk1"/>
                </a:solidFill>
              </a:rPr>
              <a:t>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8"/>
          <p:cNvSpPr txBox="1"/>
          <p:nvPr>
            <p:ph idx="2" type="body"/>
          </p:nvPr>
        </p:nvSpPr>
        <p:spPr>
          <a:xfrm>
            <a:off x="2987975" y="1017725"/>
            <a:ext cx="2950500" cy="39666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MÉDICOS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Módulo</a:t>
            </a:r>
            <a:r>
              <a:rPr lang="es">
                <a:solidFill>
                  <a:schemeClr val="dk1"/>
                </a:solidFill>
              </a:rPr>
              <a:t> de </a:t>
            </a:r>
            <a:r>
              <a:rPr lang="es">
                <a:solidFill>
                  <a:schemeClr val="dk1"/>
                </a:solidFill>
              </a:rPr>
              <a:t>Atención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Prescripciones a </a:t>
            </a:r>
            <a:r>
              <a:rPr lang="es">
                <a:solidFill>
                  <a:schemeClr val="dk1"/>
                </a:solidFill>
              </a:rPr>
              <a:t>Enfermería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Derivación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Solicitudes de Estudios </a:t>
            </a:r>
            <a:r>
              <a:rPr lang="es">
                <a:solidFill>
                  <a:schemeClr val="dk1"/>
                </a:solidFill>
              </a:rPr>
              <a:t>parametrizables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Solicitud de laboratorios parametrizables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Interconsultas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C</a:t>
            </a:r>
            <a:r>
              <a:rPr lang="es">
                <a:solidFill>
                  <a:schemeClr val="dk1"/>
                </a:solidFill>
              </a:rPr>
              <a:t>ertificado de defunción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38"/>
          <p:cNvSpPr txBox="1"/>
          <p:nvPr>
            <p:ph idx="2" type="body"/>
          </p:nvPr>
        </p:nvSpPr>
        <p:spPr>
          <a:xfrm>
            <a:off x="6115300" y="1017725"/>
            <a:ext cx="2950500" cy="39666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MÉDICOS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Receta Electrónica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Retiro Voluntario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Certificado Policial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Notas sin necesidad de diagnóstico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Fuga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1"/>
                </a:solidFill>
              </a:rPr>
              <a:t>certificados de atención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</a:t>
            </a:r>
            <a:r>
              <a:rPr lang="es"/>
              <a:t>debería</a:t>
            </a:r>
            <a:r>
              <a:rPr lang="es"/>
              <a:t> tener el Formulario Admisi</a:t>
            </a:r>
            <a:r>
              <a:rPr lang="es"/>
              <a:t>ón</a:t>
            </a:r>
            <a:endParaRPr/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DNI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Apellido y Nombre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Motivo Consulta</a:t>
            </a:r>
            <a:r>
              <a:rPr lang="es"/>
              <a:t> 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Tipo de Guardia a la que acude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Elegir el lugar donde está el paciente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debería tener el Formulario de Triage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Motivo de Consulta</a:t>
            </a:r>
            <a:r>
              <a:rPr lang="es"/>
              <a:t> → texto libre según lo expresa el paciente.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Diagnóstico </a:t>
            </a:r>
            <a:r>
              <a:rPr lang="es"/>
              <a:t>→ </a:t>
            </a:r>
            <a:r>
              <a:rPr lang="es" sz="1200">
                <a:highlight>
                  <a:srgbClr val="FFFFFF"/>
                </a:highlight>
              </a:rPr>
              <a:t>NANDA-I (North American Nursing Diagnosis Association International</a:t>
            </a:r>
            <a:r>
              <a:rPr lang="es"/>
              <a:t> / </a:t>
            </a:r>
            <a:r>
              <a:rPr lang="es" sz="1200">
                <a:highlight>
                  <a:srgbClr val="FFFFFF"/>
                </a:highlight>
              </a:rPr>
              <a:t>SNOMED CT /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Signos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TA Min</a:t>
            </a:r>
            <a:r>
              <a:rPr lang="es"/>
              <a:t> —&gt; Número entero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TA Max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Los valores se dan como Sistólica/Diastólica (ej: 120/80).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Frecuencia Cardiaca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Saturación Oxígeno </a:t>
            </a:r>
            <a:r>
              <a:rPr lang="es"/>
              <a:t>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Frecuencia Respiratoria</a:t>
            </a:r>
            <a:r>
              <a:rPr lang="es"/>
              <a:t> 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b="1" lang="es"/>
              <a:t>Nivel de Insulina Hemoglucotest </a:t>
            </a:r>
            <a:r>
              <a:rPr lang="es"/>
              <a:t>→ Número entero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Factores</a:t>
            </a:r>
            <a:r>
              <a:rPr b="1" lang="es" sz="1200">
                <a:solidFill>
                  <a:srgbClr val="0A0A0A"/>
                </a:solidFill>
                <a:highlight>
                  <a:srgbClr val="FFFFFF"/>
                </a:highlight>
              </a:rPr>
              <a:t> d</a:t>
            </a:r>
            <a:r>
              <a:rPr b="1" lang="es"/>
              <a:t>e Riesgo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 → texto libre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0A0A0A"/>
                </a:solidFill>
                <a:highlight>
                  <a:srgbClr val="FFFFFF"/>
                </a:highlight>
              </a:rPr>
              <a:t>Solicitar TTO de Enfermería</a:t>
            </a:r>
            <a:endParaRPr b="1"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15" name="Google Shape;215;p40"/>
          <p:cNvSpPr txBox="1"/>
          <p:nvPr>
            <p:ph idx="2" type="body"/>
          </p:nvPr>
        </p:nvSpPr>
        <p:spPr>
          <a:xfrm>
            <a:off x="4876000" y="701775"/>
            <a:ext cx="3999900" cy="4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Escala Glasgow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gravedad: 13-15 (leve), 9-12 (moderado), 3-8 (grave) puede cambiar la clasificación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Peso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Número con decimal? →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Sensorio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Sibilancia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D35"/>
                </a:solidFill>
                <a:highlight>
                  <a:srgbClr val="FFFFFF"/>
                </a:highlight>
              </a:rPr>
              <a:t>Pupilas </a:t>
            </a:r>
            <a:r>
              <a:rPr lang="es" sz="1200">
                <a:solidFill>
                  <a:srgbClr val="001D35"/>
                </a:solidFill>
                <a:highlight>
                  <a:srgbClr val="FFFFFF"/>
                </a:highlight>
              </a:rPr>
              <a:t>→ ? SIPS</a:t>
            </a:r>
            <a:endParaRPr sz="12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Electro Cardiograma</a:t>
            </a:r>
            <a:r>
              <a:rPr lang="es"/>
              <a:t> → S/N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Evolución </a:t>
            </a:r>
            <a:r>
              <a:rPr lang="es"/>
              <a:t>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Clasificación </a:t>
            </a:r>
            <a:r>
              <a:rPr lang="es"/>
              <a:t>→ Color de Triage (Rojo, Naranja, Amarillo, Verde y Azul) según la institución.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Ubicación</a:t>
            </a:r>
            <a:r>
              <a:rPr lang="es"/>
              <a:t>: Lugar donde queda el paciente una vez finalizado el Triage, según la institución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que debería tener el Formulario Atención </a:t>
            </a:r>
            <a:r>
              <a:rPr lang="es"/>
              <a:t>Médica</a:t>
            </a:r>
            <a:endParaRPr/>
          </a:p>
        </p:txBody>
      </p:sp>
      <p:sp>
        <p:nvSpPr>
          <p:cNvPr id="221" name="Google Shape;221;p41"/>
          <p:cNvSpPr txBox="1"/>
          <p:nvPr>
            <p:ph idx="1" type="body"/>
          </p:nvPr>
        </p:nvSpPr>
        <p:spPr>
          <a:xfrm>
            <a:off x="311700" y="745375"/>
            <a:ext cx="3999900" cy="4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Motivo de Consulta</a:t>
            </a:r>
            <a:r>
              <a:rPr lang="es"/>
              <a:t> → texto libre según lo expresa el paciente. </a:t>
            </a:r>
            <a:r>
              <a:rPr lang="es"/>
              <a:t>Tomar</a:t>
            </a:r>
            <a:r>
              <a:rPr lang="es"/>
              <a:t> del triage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Diagnóstico Presuntivo </a:t>
            </a:r>
            <a:r>
              <a:rPr lang="es"/>
              <a:t>→ </a:t>
            </a:r>
            <a:r>
              <a:rPr lang="es" sz="1200">
                <a:highlight>
                  <a:srgbClr val="FFFFFF"/>
                </a:highlight>
              </a:rPr>
              <a:t>CIE10</a:t>
            </a:r>
            <a:r>
              <a:rPr lang="es"/>
              <a:t> / </a:t>
            </a:r>
            <a:r>
              <a:rPr lang="es" sz="1200">
                <a:highlight>
                  <a:srgbClr val="FFFFFF"/>
                </a:highlight>
              </a:rPr>
              <a:t>SNOMED CT / texto libre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highlight>
                  <a:srgbClr val="FFFFFF"/>
                </a:highlight>
              </a:rPr>
              <a:t>Diagnóstico</a:t>
            </a:r>
            <a:r>
              <a:rPr b="1" lang="es" sz="1200">
                <a:highlight>
                  <a:srgbClr val="FFFFFF"/>
                </a:highlight>
              </a:rPr>
              <a:t> </a:t>
            </a:r>
            <a:r>
              <a:rPr b="1" lang="es" sz="1200">
                <a:highlight>
                  <a:srgbClr val="FFFFFF"/>
                </a:highlight>
              </a:rPr>
              <a:t>Principal</a:t>
            </a:r>
            <a:r>
              <a:rPr b="1" lang="es" sz="1200">
                <a:highlight>
                  <a:srgbClr val="FFFFFF"/>
                </a:highlight>
              </a:rPr>
              <a:t> </a:t>
            </a:r>
            <a:r>
              <a:rPr lang="es" sz="1200">
                <a:highlight>
                  <a:srgbClr val="FFFFFF"/>
                </a:highlight>
              </a:rPr>
              <a:t>→ </a:t>
            </a:r>
            <a:r>
              <a:rPr lang="es" sz="1200">
                <a:highlight>
                  <a:schemeClr val="lt1"/>
                </a:highlight>
              </a:rPr>
              <a:t>CIE10</a:t>
            </a:r>
            <a:r>
              <a:rPr lang="es"/>
              <a:t> / </a:t>
            </a:r>
            <a:r>
              <a:rPr lang="es" sz="1200">
                <a:highlight>
                  <a:schemeClr val="lt1"/>
                </a:highlight>
              </a:rPr>
              <a:t>SNOMED obligatorio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Evolución </a:t>
            </a:r>
            <a:r>
              <a:rPr lang="es"/>
              <a:t>→ texto libre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 Interconsulta</a:t>
            </a:r>
            <a:r>
              <a:rPr lang="es"/>
              <a:t> → seleccionar especialidad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Solicitar</a:t>
            </a:r>
            <a:r>
              <a:rPr b="1" lang="es"/>
              <a:t> estudios</a:t>
            </a:r>
            <a:r>
              <a:rPr lang="es"/>
              <a:t> → agregar uno o varios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Solicitar TTO </a:t>
            </a:r>
            <a:r>
              <a:rPr lang="es"/>
              <a:t>a </a:t>
            </a:r>
            <a:r>
              <a:rPr lang="es"/>
              <a:t>Enfermería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Prescripción de Medicamento → </a:t>
            </a:r>
            <a:r>
              <a:rPr lang="es"/>
              <a:t>Receta </a:t>
            </a:r>
            <a:r>
              <a:rPr lang="es"/>
              <a:t>Electrónica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¿Primera Vez que se atiende por esa patología en guardia? Si / No HCR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Presenta Carnet de Vacunas al dia SI/NO HCR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22" name="Google Shape;222;p41"/>
          <p:cNvSpPr txBox="1"/>
          <p:nvPr>
            <p:ph idx="2" type="body"/>
          </p:nvPr>
        </p:nvSpPr>
        <p:spPr>
          <a:xfrm>
            <a:off x="4876000" y="701775"/>
            <a:ext cx="3999900" cy="4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Poder ver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N Triage de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últimas </a:t>
            </a:r>
            <a:r>
              <a:rPr b="1" lang="es"/>
              <a:t>N</a:t>
            </a:r>
            <a:r>
              <a:rPr b="1" lang="es"/>
              <a:t> </a:t>
            </a:r>
            <a:r>
              <a:rPr lang="es"/>
              <a:t>anteriores</a:t>
            </a:r>
            <a:r>
              <a:rPr lang="es"/>
              <a:t> en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</a:t>
            </a:r>
            <a:r>
              <a:rPr lang="es"/>
              <a:t>últimas</a:t>
            </a:r>
            <a:r>
              <a:rPr lang="es"/>
              <a:t> </a:t>
            </a:r>
            <a:r>
              <a:rPr b="1" lang="es"/>
              <a:t>N </a:t>
            </a:r>
            <a:r>
              <a:rPr lang="es"/>
              <a:t>atenciones en Consultorio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Los </a:t>
            </a:r>
            <a:r>
              <a:rPr lang="es"/>
              <a:t>últimos </a:t>
            </a:r>
            <a:r>
              <a:rPr b="1" lang="es"/>
              <a:t>N</a:t>
            </a:r>
            <a:r>
              <a:rPr b="1" lang="es"/>
              <a:t> </a:t>
            </a:r>
            <a:r>
              <a:rPr lang="es"/>
              <a:t>retiros de Medicamentos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Los últimos</a:t>
            </a:r>
            <a:r>
              <a:rPr lang="es"/>
              <a:t> </a:t>
            </a:r>
            <a:r>
              <a:rPr b="1" lang="es"/>
              <a:t>N </a:t>
            </a:r>
            <a:r>
              <a:rPr lang="es"/>
              <a:t>laboratorios realizados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Interfaz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Recordar para sistema</a:t>
            </a:r>
            <a:endParaRPr/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1-pase de guardia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2-tamano de la letra grande facilitando la visibilidad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3-) sistema para reportar errores y sugerencias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4-) canales de </a:t>
            </a:r>
            <a:r>
              <a:rPr lang="es"/>
              <a:t>comunicación, reportes de.errores.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50" y="211401"/>
            <a:ext cx="3961974" cy="17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4125" y="2134894"/>
            <a:ext cx="4839175" cy="29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4"/>
          <p:cNvSpPr/>
          <p:nvPr/>
        </p:nvSpPr>
        <p:spPr>
          <a:xfrm>
            <a:off x="6954625" y="298575"/>
            <a:ext cx="2189400" cy="1296900"/>
          </a:xfrm>
          <a:prstGeom prst="wedgeRoundRectCallout">
            <a:avLst>
              <a:gd fmla="val -66922" name="adj1"/>
              <a:gd fmla="val 7183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ir del login al Tablero de la </a:t>
            </a:r>
            <a:r>
              <a:rPr lang="es"/>
              <a:t>guardia</a:t>
            </a:r>
            <a:r>
              <a:rPr lang="es"/>
              <a:t> con la menor cantidad de pasos posibles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4"/>
          <p:cNvSpPr/>
          <p:nvPr/>
        </p:nvSpPr>
        <p:spPr>
          <a:xfrm>
            <a:off x="753925" y="3044525"/>
            <a:ext cx="2189400" cy="1296900"/>
          </a:xfrm>
          <a:prstGeom prst="wedgeRoundRectCallout">
            <a:avLst>
              <a:gd fmla="val 108285" name="adj1"/>
              <a:gd fmla="val 61767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Imagen representativa de un Tablero de guardia.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4"/>
          <p:cNvSpPr/>
          <p:nvPr/>
        </p:nvSpPr>
        <p:spPr>
          <a:xfrm>
            <a:off x="2595725" y="4472225"/>
            <a:ext cx="457800" cy="6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4"/>
          <p:cNvSpPr txBox="1"/>
          <p:nvPr/>
        </p:nvSpPr>
        <p:spPr>
          <a:xfrm>
            <a:off x="1015625" y="4603000"/>
            <a:ext cx="1427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4" name="Google Shape;244;p44"/>
          <p:cNvCxnSpPr>
            <a:stCxn id="238" idx="3"/>
            <a:endCxn id="239" idx="0"/>
          </p:cNvCxnSpPr>
          <p:nvPr/>
        </p:nvCxnSpPr>
        <p:spPr>
          <a:xfrm>
            <a:off x="4164124" y="1080764"/>
            <a:ext cx="2419500" cy="1054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/>
        </p:nvSpPr>
        <p:spPr>
          <a:xfrm>
            <a:off x="0" y="0"/>
            <a:ext cx="9144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cantidad de pacientes por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todo un año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dia destacado 20251013 314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registrados en la guardia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Análisis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20251013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/*listado de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pacientes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registrado ese dia*/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gua_monitor WHERE fecha = '20251013'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cantidad de pacientes 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count(pres) as cant, pres  FROM gua_monitor  WHERE fecha = '20251013' GROUP BY pres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ausente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43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Observación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 espera		10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atendidos				261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cantidad de triage */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* FROM gua_mov_enf WHERE fecha BETWEEN '2025-10-13 00:00:00' AND '2025-10-13 23:59:00'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cantidad de triage 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verde		176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azul	  	009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amarillo 	080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naranja   	005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rojo	 	044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		314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ENTRE azul y verde hay 185 pacientes, mas 50% es prioridades baja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/>
        </p:nvSpPr>
        <p:spPr>
          <a:xfrm>
            <a:off x="78450" y="0"/>
            <a:ext cx="9065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por pacientes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09				pacientes 1		2 informes 5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 (2 del día anterior)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08				pacientes 2		2 informes 5 modificaciones </a:t>
            </a: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 </a:t>
            </a: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10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 del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informes 7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07				pacientes 3		1 informe  6 modificaciones 1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  6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informes 5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05				pacientes 1		2 informes 3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atenciones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04				pacientes 4		1 informe  3 modificaciones	1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5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informes,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6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modificaciones,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4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(este en realidad son 11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7 del 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anterior)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1 informe  3 modificaciones 1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						2 informes 2 modificaciones 2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médicos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—-------------------------------------------------------------------------------------------------------------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3				pacientes 19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2				pacientes 75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	1				pacientes 157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totales informes de atenciones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13/10/2025 son 280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atenciones,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el resto 34 pertenecen al 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día</a:t>
            </a: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anterior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Max			9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Media		1.651515152</a:t>
            </a:r>
            <a:endParaRPr b="1" sz="1050">
              <a:solidFill>
                <a:srgbClr val="FF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			1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373" y="3124450"/>
            <a:ext cx="2149200" cy="18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600" y="1165044"/>
            <a:ext cx="4839175" cy="29432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47"/>
          <p:cNvCxnSpPr>
            <a:stCxn id="260" idx="3"/>
          </p:cNvCxnSpPr>
          <p:nvPr/>
        </p:nvCxnSpPr>
        <p:spPr>
          <a:xfrm>
            <a:off x="5134775" y="2636647"/>
            <a:ext cx="2201400" cy="127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62" name="Google Shape;26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300" y="923925"/>
            <a:ext cx="1899350" cy="1899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47"/>
          <p:cNvCxnSpPr>
            <a:stCxn id="260" idx="3"/>
          </p:cNvCxnSpPr>
          <p:nvPr/>
        </p:nvCxnSpPr>
        <p:spPr>
          <a:xfrm flipH="1" rot="10800000">
            <a:off x="5134775" y="2085847"/>
            <a:ext cx="1907100" cy="550800"/>
          </a:xfrm>
          <a:prstGeom prst="bentConnector3">
            <a:avLst>
              <a:gd fmla="val 55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47"/>
          <p:cNvSpPr/>
          <p:nvPr/>
        </p:nvSpPr>
        <p:spPr>
          <a:xfrm>
            <a:off x="5374525" y="47950"/>
            <a:ext cx="2189400" cy="1296900"/>
          </a:xfrm>
          <a:prstGeom prst="wedgeRoundRectCallout">
            <a:avLst>
              <a:gd fmla="val -100271" name="adj1"/>
              <a:gd fmla="val 18107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ir del tablero a las acciones en la menor cantidad de clic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Definiciones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lang="es" sz="1500">
                <a:solidFill>
                  <a:srgbClr val="001D35"/>
                </a:solidFill>
                <a:highlight>
                  <a:srgbClr val="FFFFFF"/>
                </a:highlight>
              </a:rPr>
              <a:t>Tiempos de espera por color (referencia general)</a:t>
            </a:r>
            <a:endParaRPr/>
          </a:p>
        </p:txBody>
      </p:sp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🟥 Rojo (Reanimación/Emergencia vital): Atención inmediata (0 minutos). Riesgo de vida, como paro cardiorrespiratorio.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🟧 Naranja (Emergencia): Atención rápida, máximo 10-15 minutos. Ej: Shock, fractura expuesta.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🟨 Amarillo (Urgencia moderada): Atención en aproximadamente 30-60 minutos. Ej: Dolor abdominal, herida sin shock.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🟢 Verde (Urgencia menor): Espera de hasta 2 horas. Ej: Esguince, fiebre, vómitos.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🔵 Azul (Sin urgencia): Puede esperar varias horas (hasta 4 horas) o ser derivado a atención primaria. Ej: Resfrío, control rutinario. </a:t>
            </a:r>
            <a:endParaRPr sz="1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Escala de Coma de Glasgow </a:t>
            </a:r>
            <a:endParaRPr/>
          </a:p>
        </p:txBody>
      </p:sp>
      <p:sp>
        <p:nvSpPr>
          <p:cNvPr id="281" name="Google Shape;281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32835"/>
              <a:buFont typeface="Arial"/>
              <a:buNone/>
            </a:pPr>
            <a:r>
              <a:rPr lang="es" sz="3350">
                <a:solidFill>
                  <a:srgbClr val="001D35"/>
                </a:solidFill>
                <a:highlight>
                  <a:srgbClr val="FFFFFF"/>
                </a:highlight>
              </a:rPr>
              <a:t>Componentes de la Escala de Glasgow</a:t>
            </a:r>
            <a:endParaRPr sz="335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Apertura Ocular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(4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Espontánea.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Al hablar.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Al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abre.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Respuesta Verbal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(5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5: Orientado y coherente.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Desorientado (confuso).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Palabras inapropiadas.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Sonidos incomprensibles.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responde.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●"/>
            </a:pPr>
            <a:r>
              <a:rPr lang="es" sz="335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Respuesta Motora</a:t>
            </a: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 (6 puntos):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6: Obedece órdenes.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5: Localiza el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4: Retira ante el dolor.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3: Flexión anormal (decorticación).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2: Extensión anormal (descerebración).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281781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ct val="100000"/>
              <a:buChar char="○"/>
            </a:pPr>
            <a:r>
              <a:rPr lang="es" sz="3350">
                <a:solidFill>
                  <a:srgbClr val="0A0A0A"/>
                </a:solidFill>
                <a:highlight>
                  <a:srgbClr val="FFFFFF"/>
                </a:highlight>
              </a:rPr>
              <a:t>1: No hay respuesta motora. </a:t>
            </a:r>
            <a:endParaRPr sz="33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 Escala de Coma de Glasgow (ECG) </a:t>
            </a:r>
            <a:r>
              <a:rPr lang="es" sz="1200">
                <a:solidFill>
                  <a:srgbClr val="001D35"/>
                </a:solidFill>
              </a:rPr>
              <a:t>es una herramienta esencial en el </a:t>
            </a:r>
            <a:r>
              <a:rPr i="1" lang="es" sz="1200">
                <a:solidFill>
                  <a:srgbClr val="001D35"/>
                </a:solidFill>
              </a:rPr>
              <a:t>triage</a:t>
            </a:r>
            <a:r>
              <a:rPr lang="es" sz="1200">
                <a:solidFill>
                  <a:srgbClr val="001D35"/>
                </a:solidFill>
              </a:rPr>
              <a:t> y la medicina de emergencia para evaluar el nivel de conciencia de un paciente mediante tres respuestas (ocular, verbal, motora), sumando puntos de 3 a 15 para determinar gravedad: 13-15 (leve), 9-12 (moderado), 3-8 (grave)</a:t>
            </a:r>
            <a:r>
              <a:rPr lang="es" sz="1200">
                <a:solidFill>
                  <a:srgbClr val="0A0A0A"/>
                </a:solidFill>
                <a:highlight>
                  <a:srgbClr val="FFFFFF"/>
                </a:highlight>
              </a:rPr>
              <a:t>, ayudando a priorizar la atención en traumatismos craneoencefálicos y otras afecciones neurológicas.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